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nelgiriyewithana/global-weather-repository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maccelerator.io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repaMan/weather-trend-forecasting" TargetMode="Externa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linkedin.com/in/manuel-v-01091999/?isSelfProfile=true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35240" y="548640"/>
            <a:ext cx="4005072" cy="5760720"/>
          </a:xfrm>
          <a:prstGeom prst="roundRect">
            <a:avLst>
              <a:gd name="adj" fmla="val 4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1097280"/>
            <a:ext cx="1490472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ADVANCED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6766560" cy="2194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4800" b="1" i="0">
                <a:solidFill>
                  <a:srgbClr val="1B2631"/>
                </a:solidFill>
                <a:latin typeface="Cambria"/>
              </a:rPr>
              <a:t>Weather Trend Forecasting</a:t>
            </a:r>
          </a:p>
          <a:p>
            <a:pPr algn="l">
              <a:spcAft>
                <a:spcPts val="600"/>
              </a:spcAft>
            </a:pPr>
            <a:r>
              <a:rPr sz="2800" b="0" i="0">
                <a:solidFill>
                  <a:srgbClr val="0E4D64"/>
                </a:solidFill>
                <a:latin typeface="Cambria"/>
              </a:rPr>
              <a:t>— Global Weather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6766560" cy="182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1B2631"/>
                </a:solidFill>
                <a:latin typeface="Calibri"/>
              </a:rPr>
              <a:t>Manuel Vargas Alvarez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1B2631"/>
                </a:solidFill>
                <a:latin typeface="Calibri"/>
              </a:rPr>
              <a:t>PM Accelerator — Data Scientist technical assessment (Advanced track)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0E4D64"/>
                </a:solidFill>
                <a:latin typeface="Calibri"/>
                <a:hlinkClick r:id="rId2"/>
              </a:rPr>
              <a:t>Dataset: Global Weather Repository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92440" y="105156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0E4D64"/>
                </a:solidFill>
                <a:latin typeface="Cambria"/>
              </a:rPr>
              <a:t>167,812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1801367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D6D7E"/>
                </a:solidFill>
                <a:latin typeface="Calibri"/>
              </a:rPr>
              <a:t>rows after cleaning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274320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0E4D64"/>
                </a:solidFill>
                <a:latin typeface="Cambria"/>
              </a:rPr>
              <a:t>268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3493008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D6D7E"/>
                </a:solidFill>
                <a:latin typeface="Calibri"/>
              </a:rPr>
              <a:t>cities worldwide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443484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D9480F"/>
                </a:solidFill>
                <a:latin typeface="Cambria"/>
              </a:rPr>
              <a:t>~2.5°C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5184648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D6D7E"/>
                </a:solidFill>
                <a:latin typeface="Calibri"/>
              </a:rPr>
              <a:t>day-ahead MAE (Kyiv)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47472"/>
            <a:ext cx="882396" cy="292608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631"/>
                </a:solidFill>
                <a:latin typeface="Cambria"/>
              </a:rPr>
              <a:t>PM Accelerator 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7145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  <a:latin typeface="Calibri"/>
              </a:rPr>
              <a:t>2 /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11094415" cy="274320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73152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8000" b="0" i="0">
                <a:solidFill>
                  <a:srgbClr val="D9480F"/>
                </a:solidFill>
                <a:latin typeface="Cambria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65960"/>
            <a:ext cx="9601200" cy="1645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2200" b="0" i="1">
                <a:solidFill>
                  <a:srgbClr val="1B2631"/>
                </a:solidFill>
                <a:latin typeface="Cambria"/>
              </a:rPr>
              <a:t>“We are committed to offering free Product Management education to teenagers from underserved families. Our mission is to break down financial barriers and achieve educational fairness… empower more kids for a better future… fostering a diverse landscape in the tech industry.”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703320"/>
            <a:ext cx="960120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E4D64"/>
                </a:solidFill>
                <a:latin typeface="Calibri"/>
              </a:rPr>
              <a:t>— </a:t>
            </a:r>
            <a:r>
              <a:rPr sz="1600" b="1" i="0">
                <a:solidFill>
                  <a:srgbClr val="0E4D64"/>
                </a:solidFill>
                <a:latin typeface="Calibri"/>
              </a:rPr>
              <a:t>PMA KIDS</a:t>
            </a:r>
            <a:r>
              <a:rPr sz="1600" b="0" i="0">
                <a:solidFill>
                  <a:srgbClr val="0E4D64"/>
                </a:solidFill>
                <a:latin typeface="Calibri"/>
              </a:rPr>
              <a:t>, </a:t>
            </a:r>
            <a:r>
              <a:rPr sz="1600" b="0" i="0">
                <a:solidFill>
                  <a:srgbClr val="0E4D64"/>
                </a:solidFill>
                <a:latin typeface="Calibri"/>
                <a:hlinkClick r:id="rId2"/>
              </a:rPr>
              <a:t>pmaccelerator.io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754880"/>
            <a:ext cx="11094415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B2631"/>
                </a:solidFill>
                <a:latin typeface="Calibri"/>
              </a:rPr>
              <a:t>Product Manager Accelerator</a:t>
            </a:r>
            <a:r>
              <a:rPr sz="1800" b="0" i="0">
                <a:solidFill>
                  <a:srgbClr val="1B2631"/>
                </a:solidFill>
                <a:latin typeface="Calibri"/>
              </a:rPr>
              <a:t> also serves a global community of aspiring and current product managers with training and career programs in product and AI.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4747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631"/>
                </a:solidFill>
                <a:latin typeface="Cambria"/>
              </a:rPr>
              <a:t>Objective &amp;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7145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  <a:latin typeface="Calibri"/>
              </a:rPr>
              <a:t>3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1B2631"/>
                </a:solidFill>
                <a:latin typeface="Calibri"/>
              </a:rPr>
              <a:t>Goal:</a:t>
            </a:r>
            <a:r>
              <a:rPr sz="1900" b="0" i="0">
                <a:solidFill>
                  <a:srgbClr val="1B2631"/>
                </a:solidFill>
                <a:latin typeface="Calibri"/>
              </a:rPr>
              <a:t> Forecast weather trends and demonstrate end-to-end data science on a real-world weather panel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E4D64"/>
                </a:solidFill>
                <a:latin typeface="Calibri"/>
              </a:rPr>
              <a:t>Advanced track delivered: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80360"/>
            <a:ext cx="2036003" cy="201168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77240" y="3108960"/>
            <a:ext cx="502920" cy="502920"/>
          </a:xfrm>
          <a:prstGeom prst="ellipse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49039"/>
            <a:ext cx="1578803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B2631"/>
                </a:solidFill>
                <a:latin typeface="Calibri"/>
              </a:rPr>
              <a:t>Cleaning &amp; EDA (temperature, precipitation)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13243" y="2880360"/>
            <a:ext cx="2036003" cy="201168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041843" y="3108960"/>
            <a:ext cx="502920" cy="502920"/>
          </a:xfrm>
          <a:prstGeom prst="ellipse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1843" y="3749039"/>
            <a:ext cx="1578803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B2631"/>
                </a:solidFill>
                <a:latin typeface="Calibri"/>
              </a:rPr>
              <a:t>Anomaly / outlier analysis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7846" y="2880360"/>
            <a:ext cx="2036003" cy="201168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306446" y="3108960"/>
            <a:ext cx="502920" cy="502920"/>
          </a:xfrm>
          <a:prstGeom prst="ellipse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6446" y="3749039"/>
            <a:ext cx="1578803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B2631"/>
                </a:solidFill>
                <a:latin typeface="Calibri"/>
              </a:rPr>
              <a:t>Multiple forecasting models + ensemble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2449" y="2880360"/>
            <a:ext cx="2036003" cy="201168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7571049" y="3108960"/>
            <a:ext cx="502920" cy="502920"/>
          </a:xfrm>
          <a:prstGeom prst="ellipse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049" y="3749039"/>
            <a:ext cx="1578803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B2631"/>
                </a:solidFill>
                <a:latin typeface="Calibri"/>
              </a:rPr>
              <a:t>Feature importance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07052" y="2880360"/>
            <a:ext cx="2036003" cy="201168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9835652" y="3108960"/>
            <a:ext cx="502920" cy="502920"/>
          </a:xfrm>
          <a:prstGeom prst="ellipse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5652" y="3749039"/>
            <a:ext cx="1578803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B2631"/>
                </a:solidFill>
                <a:latin typeface="Calibri"/>
              </a:rPr>
              <a:t>Environmental (air quality) &amp; geographical analysis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30352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E3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59" y="5303520"/>
            <a:ext cx="10545775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B2631"/>
                </a:solidFill>
                <a:latin typeface="Calibri"/>
              </a:rPr>
              <a:t>Primary series:</a:t>
            </a:r>
            <a:r>
              <a:rPr sz="1800" b="0" i="0">
                <a:solidFill>
                  <a:srgbClr val="1B2631"/>
                </a:solidFill>
                <a:latin typeface="Calibri"/>
              </a:rPr>
              <a:t> Kyiv · target </a:t>
            </a:r>
            <a:r>
              <a:rPr sz="1800" b="0" i="0">
                <a:solidFill>
                  <a:srgbClr val="0E4D64"/>
                </a:solidFill>
                <a:latin typeface="Consolas"/>
              </a:rPr>
              <a:t>temperature_celsius</a:t>
            </a:r>
            <a:r>
              <a:rPr sz="1800" b="0" i="0">
                <a:solidFill>
                  <a:srgbClr val="1B2631"/>
                </a:solidFill>
                <a:latin typeface="Calibri"/>
              </a:rPr>
              <a:t> · time index </a:t>
            </a:r>
            <a:r>
              <a:rPr sz="1800" b="0" i="0">
                <a:solidFill>
                  <a:srgbClr val="0E4D64"/>
                </a:solidFill>
                <a:latin typeface="Consolas"/>
              </a:rPr>
              <a:t>last_updated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47472"/>
            <a:ext cx="621792" cy="292608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631"/>
                </a:solidFill>
                <a:latin typeface="Cambria"/>
              </a:rPr>
              <a:t>Data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7145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  <a:latin typeface="Calibri"/>
              </a:rPr>
              <a:t>4 /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2103120" cy="132588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691639"/>
            <a:ext cx="1737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E4D64"/>
                </a:solidFill>
                <a:latin typeface="Cambria"/>
              </a:rPr>
              <a:t>167,812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17373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D6D7E"/>
                </a:solidFill>
                <a:latin typeface="Calibri"/>
              </a:rPr>
              <a:t>rows after cleaning (167,813 raw)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554480"/>
            <a:ext cx="2103120" cy="132588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017520" y="1691639"/>
            <a:ext cx="1737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E4D64"/>
                </a:solidFill>
                <a:latin typeface="Cambria"/>
              </a:rPr>
              <a:t>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286000"/>
            <a:ext cx="17373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D6D7E"/>
                </a:solidFill>
                <a:latin typeface="Calibri"/>
              </a:rPr>
              <a:t>columns (features)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63239"/>
            <a:ext cx="2103120" cy="132588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3200399"/>
            <a:ext cx="1737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E4D64"/>
                </a:solidFill>
                <a:latin typeface="Cambria"/>
              </a:rPr>
              <a:t>268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794759"/>
            <a:ext cx="17373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D6D7E"/>
                </a:solidFill>
                <a:latin typeface="Calibri"/>
              </a:rPr>
              <a:t>locations (cities)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34640" y="3063239"/>
            <a:ext cx="2103120" cy="132588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17520" y="3200399"/>
            <a:ext cx="1737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E4D64"/>
                </a:solidFill>
                <a:latin typeface="Cambria"/>
              </a:rPr>
              <a:t>~863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794759"/>
            <a:ext cx="17373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D6D7E"/>
                </a:solidFill>
                <a:latin typeface="Calibri"/>
              </a:rPr>
              <a:t>daily-ish observations per city (panel)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61772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B2631"/>
                </a:solidFill>
                <a:latin typeface="Calibri"/>
              </a:rPr>
              <a:t>Cleaning:</a:t>
            </a:r>
            <a:r>
              <a:rPr sz="1300" b="0" i="0">
                <a:solidFill>
                  <a:srgbClr val="1B2631"/>
                </a:solidFill>
                <a:latin typeface="Calibri"/>
              </a:rPr>
              <a:t> Parsed </a:t>
            </a:r>
            <a:r>
              <a:rPr sz="1300" b="0" i="0">
                <a:solidFill>
                  <a:srgbClr val="0E4D64"/>
                </a:solidFill>
                <a:latin typeface="Consolas"/>
              </a:rPr>
              <a:t>last_updated</a:t>
            </a:r>
            <a:r>
              <a:rPr sz="1300" b="0" i="0">
                <a:solidFill>
                  <a:srgbClr val="1B2631"/>
                </a:solidFill>
                <a:latin typeface="Calibri"/>
              </a:rPr>
              <a:t> to datetime (0 failures); no imputation; </a:t>
            </a:r>
            <a:r>
              <a:rPr sz="1300" b="1" i="0">
                <a:solidFill>
                  <a:srgbClr val="1B2631"/>
                </a:solidFill>
                <a:latin typeface="Calibri"/>
              </a:rPr>
              <a:t>no min–max/z-score scaling</a:t>
            </a:r>
            <a:r>
              <a:rPr sz="1300" b="0" i="0">
                <a:solidFill>
                  <a:srgbClr val="1B2631"/>
                </a:solidFill>
                <a:latin typeface="Calibri"/>
              </a:rPr>
              <a:t> (values kept in °C; outliers analyzed in notebook 03); removed </a:t>
            </a:r>
            <a:r>
              <a:rPr sz="1300" b="1" i="0">
                <a:solidFill>
                  <a:srgbClr val="1B2631"/>
                </a:solidFill>
                <a:latin typeface="Calibri"/>
              </a:rPr>
              <a:t>1</a:t>
            </a:r>
            <a:r>
              <a:rPr sz="1300" b="0" i="0">
                <a:solidFill>
                  <a:srgbClr val="1B2631"/>
                </a:solidFill>
                <a:latin typeface="Calibri"/>
              </a:rPr>
              <a:t> duplicate </a:t>
            </a:r>
            <a:r>
              <a:rPr sz="1300" b="0" i="0">
                <a:solidFill>
                  <a:srgbClr val="0E4D64"/>
                </a:solidFill>
                <a:latin typeface="Consolas"/>
              </a:rPr>
              <a:t>(location_name, last_updated)</a:t>
            </a:r>
            <a:r>
              <a:rPr sz="1300" b="0" i="0">
                <a:solidFill>
                  <a:srgbClr val="1B2631"/>
                </a:solidFill>
                <a:latin typeface="Calibri"/>
              </a:rPr>
              <a:t> (Nan, Thailand).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0" y="1554480"/>
            <a:ext cx="6339535" cy="4800600"/>
          </a:xfrm>
          <a:prstGeom prst="roundRect">
            <a:avLst>
              <a:gd name="adj" fmla="val 60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577840" y="1737360"/>
            <a:ext cx="5790895" cy="4480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400"/>
              </a:spcAft>
            </a:pPr>
            <a:r>
              <a:rPr sz="2000" b="1" i="0">
                <a:solidFill>
                  <a:srgbClr val="D9480F"/>
                </a:solidFill>
                <a:latin typeface="Calibri"/>
              </a:rPr>
              <a:t>Data caveats (read before models):</a:t>
            </a:r>
          </a:p>
          <a:p>
            <a:pPr marL="274320" indent="-237744" algn="l">
              <a:spcAft>
                <a:spcPts val="1400"/>
              </a:spcAft>
              <a:buClr>
                <a:srgbClr val="D9480F"/>
              </a:buClr>
              <a:buFont typeface="Arial"/>
              <a:buChar char="•"/>
            </a:pPr>
            <a:r>
              <a:rPr sz="1600" b="1" i="0">
                <a:solidFill>
                  <a:srgbClr val="1B2631"/>
                </a:solidFill>
                <a:latin typeface="Calibri"/>
              </a:rPr>
              <a:t>Day-ahead evaluation:</a:t>
            </a:r>
            <a:r>
              <a:rPr sz="1600" b="0" i="0">
                <a:solidFill>
                  <a:srgbClr val="1B2631"/>
                </a:solidFill>
                <a:latin typeface="Calibri"/>
              </a:rPr>
              <a:t> each holdout step is a </a:t>
            </a:r>
            <a:r>
              <a:rPr sz="1600" b="1" i="0">
                <a:solidFill>
                  <a:srgbClr val="1B2631"/>
                </a:solidFill>
                <a:latin typeface="Calibri"/>
              </a:rPr>
              <a:t>one-step-ahead</a:t>
            </a:r>
            <a:r>
              <a:rPr sz="1600" b="0" i="0">
                <a:solidFill>
                  <a:srgbClr val="1B2631"/>
                </a:solidFill>
                <a:latin typeface="Calibri"/>
              </a:rPr>
              <a:t> forecast (yesterday → today), not multi-day open-loop.</a:t>
            </a:r>
          </a:p>
          <a:p>
            <a:pPr marL="274320" indent="-237744" algn="l">
              <a:spcAft>
                <a:spcPts val="1400"/>
              </a:spcAft>
              <a:buClr>
                <a:srgbClr val="D9480F"/>
              </a:buClr>
              <a:buFont typeface="Arial"/>
              <a:buChar char="•"/>
            </a:pPr>
            <a:r>
              <a:rPr sz="1600" b="1" i="0">
                <a:solidFill>
                  <a:srgbClr val="1B2631"/>
                </a:solidFill>
                <a:latin typeface="Calibri"/>
              </a:rPr>
              <a:t>Observation-time drift:</a:t>
            </a:r>
            <a:r>
              <a:rPr sz="1600" b="0" i="0">
                <a:solidFill>
                  <a:srgbClr val="1B2631"/>
                </a:solidFill>
                <a:latin typeface="Calibri"/>
              </a:rPr>
              <a:t> rows are ~</a:t>
            </a:r>
            <a:r>
              <a:rPr sz="1600" b="1" i="0">
                <a:solidFill>
                  <a:srgbClr val="1B2631"/>
                </a:solidFill>
                <a:latin typeface="Calibri"/>
              </a:rPr>
              <a:t>24 h</a:t>
            </a:r>
            <a:r>
              <a:rPr sz="1600" b="0" i="0">
                <a:solidFill>
                  <a:srgbClr val="1B2631"/>
                </a:solidFill>
                <a:latin typeface="Calibri"/>
              </a:rPr>
              <a:t> apart (mean gap </a:t>
            </a:r>
            <a:r>
              <a:rPr sz="1600" b="1" i="0">
                <a:solidFill>
                  <a:srgbClr val="1B2631"/>
                </a:solidFill>
                <a:latin typeface="Calibri"/>
              </a:rPr>
              <a:t>24 h 03 m</a:t>
            </a:r>
            <a:r>
              <a:rPr sz="1600" b="0" i="0">
                <a:solidFill>
                  <a:srgbClr val="1B2631"/>
                </a:solidFill>
                <a:latin typeface="Calibri"/>
              </a:rPr>
              <a:t> on Kyiv); Kyiv’s </a:t>
            </a:r>
            <a:r>
              <a:rPr sz="1600" b="1" i="0">
                <a:solidFill>
                  <a:srgbClr val="1B2631"/>
                </a:solidFill>
                <a:latin typeface="Calibri"/>
              </a:rPr>
              <a:t>observation hour drifted</a:t>
            </a:r>
            <a:r>
              <a:rPr sz="1600" b="0" i="0">
                <a:solidFill>
                  <a:srgbClr val="1B2631"/>
                </a:solidFill>
                <a:latin typeface="Calibri"/>
              </a:rPr>
              <a:t> from afternoon (</a:t>
            </a:r>
            <a:r>
              <a:rPr sz="1600" b="1" i="0">
                <a:solidFill>
                  <a:srgbClr val="1B2631"/>
                </a:solidFill>
                <a:latin typeface="Calibri"/>
              </a:rPr>
              <a:t>≈15–17 h</a:t>
            </a:r>
            <a:r>
              <a:rPr sz="1600" b="0" i="0">
                <a:solidFill>
                  <a:srgbClr val="1B2631"/>
                </a:solidFill>
                <a:latin typeface="Calibri"/>
              </a:rPr>
              <a:t>, 2024) to morning (</a:t>
            </a:r>
            <a:r>
              <a:rPr sz="1600" b="1" i="0">
                <a:solidFill>
                  <a:srgbClr val="1B2631"/>
                </a:solidFill>
                <a:latin typeface="Calibri"/>
              </a:rPr>
              <a:t>≈9 h</a:t>
            </a:r>
            <a:r>
              <a:rPr sz="1600" b="0" i="0">
                <a:solidFill>
                  <a:srgbClr val="1B2631"/>
                </a:solidFill>
                <a:latin typeface="Calibri"/>
              </a:rPr>
              <a:t>, 2026)—morning readings run colder, which partly affects year-over-year comparisons.</a:t>
            </a:r>
          </a:p>
          <a:p>
            <a:pPr marL="274320" indent="-237744" algn="l">
              <a:spcAft>
                <a:spcPts val="1400"/>
              </a:spcAft>
              <a:buClr>
                <a:srgbClr val="D9480F"/>
              </a:buClr>
              <a:buFont typeface="Arial"/>
              <a:buChar char="•"/>
            </a:pPr>
            <a:r>
              <a:rPr sz="1600" b="1" i="0">
                <a:solidFill>
                  <a:srgbClr val="1B2631"/>
                </a:solidFill>
                <a:latin typeface="Calibri"/>
              </a:rPr>
              <a:t>Snapshot quirk:</a:t>
            </a:r>
            <a:r>
              <a:rPr sz="1600" b="0" i="0">
                <a:solidFill>
                  <a:srgbClr val="1B2631"/>
                </a:solidFill>
                <a:latin typeface="Calibri"/>
              </a:rPr>
              <a:t> Kyiv </a:t>
            </a:r>
            <a:r>
              <a:rPr sz="1600" b="1" i="0">
                <a:solidFill>
                  <a:srgbClr val="1B2631"/>
                </a:solidFill>
                <a:latin typeface="Calibri"/>
              </a:rPr>
              <a:t>2026-08-17</a:t>
            </a:r>
            <a:r>
              <a:rPr sz="1600" b="0" i="0">
                <a:solidFill>
                  <a:srgbClr val="1B2631"/>
                </a:solidFill>
                <a:latin typeface="Calibri"/>
              </a:rPr>
              <a:t> shows </a:t>
            </a:r>
            <a:r>
              <a:rPr sz="1600" b="1" i="0">
                <a:solidFill>
                  <a:srgbClr val="1B2631"/>
                </a:solidFill>
                <a:latin typeface="Calibri"/>
              </a:rPr>
              <a:t>1.1°C</a:t>
            </a:r>
            <a:r>
              <a:rPr sz="1600" b="0" i="0">
                <a:solidFill>
                  <a:srgbClr val="1B2631"/>
                </a:solidFill>
                <a:latin typeface="Calibri"/>
              </a:rPr>
              <a:t> at 09:00 (feels-like −4.3) between days at 21–24°C—likely a scrape error; </a:t>
            </a:r>
            <a:r>
              <a:rPr sz="1600" b="1" i="0">
                <a:solidFill>
                  <a:srgbClr val="1B2631"/>
                </a:solidFill>
                <a:latin typeface="Calibri"/>
              </a:rPr>
              <a:t>falls in the forecast test window</a:t>
            </a:r>
            <a:r>
              <a:rPr sz="1600" b="0" i="0">
                <a:solidFill>
                  <a:srgbClr val="1B2631"/>
                </a:solidFill>
                <a:latin typeface="Calibri"/>
              </a:rPr>
              <a:t> and inflates naive RMSE (≈3.75 → ≈2.97 without that day).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47472"/>
            <a:ext cx="534924" cy="292608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631"/>
                </a:solidFill>
                <a:latin typeface="Cambria"/>
              </a:rPr>
              <a:t>EDA — Kyiv time series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7145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  <a:latin typeface="Calibri"/>
              </a:rPr>
              <a:t>5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1737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74320" indent="-237744" algn="l">
              <a:spcAft>
                <a:spcPts val="600"/>
              </a:spcAft>
              <a:buClr>
                <a:srgbClr val="D9480F"/>
              </a:buClr>
              <a:buFont typeface="Arial"/>
              <a:buChar char="•"/>
            </a:pPr>
            <a:r>
              <a:rPr sz="1700" b="1" i="0">
                <a:solidFill>
                  <a:srgbClr val="1B2631"/>
                </a:solidFill>
                <a:latin typeface="Calibri"/>
              </a:rPr>
              <a:t>863</a:t>
            </a:r>
            <a:r>
              <a:rPr sz="1700" b="0" i="0">
                <a:solidFill>
                  <a:srgbClr val="1B2631"/>
                </a:solidFill>
                <a:latin typeface="Calibri"/>
              </a:rPr>
              <a:t> points · </a:t>
            </a:r>
            <a:r>
              <a:rPr sz="1700" b="1" i="0">
                <a:solidFill>
                  <a:srgbClr val="1B2631"/>
                </a:solidFill>
                <a:latin typeface="Calibri"/>
              </a:rPr>
              <a:t>2024-05-16</a:t>
            </a:r>
            <a:r>
              <a:rPr sz="1700" b="0" i="0">
                <a:solidFill>
                  <a:srgbClr val="1B2631"/>
                </a:solidFill>
                <a:latin typeface="Calibri"/>
              </a:rPr>
              <a:t> → </a:t>
            </a:r>
            <a:r>
              <a:rPr sz="1700" b="1" i="0">
                <a:solidFill>
                  <a:srgbClr val="1B2631"/>
                </a:solidFill>
                <a:latin typeface="Calibri"/>
              </a:rPr>
              <a:t>2026-09-27</a:t>
            </a:r>
          </a:p>
          <a:p>
            <a:pPr marL="274320" indent="-237744" algn="l">
              <a:spcAft>
                <a:spcPts val="600"/>
              </a:spcAft>
              <a:buClr>
                <a:srgbClr val="D9480F"/>
              </a:buClr>
              <a:buFont typeface="Arial"/>
              <a:buChar char="•"/>
            </a:pPr>
            <a:r>
              <a:rPr sz="1700" b="0" i="0">
                <a:solidFill>
                  <a:srgbClr val="1B2631"/>
                </a:solidFill>
                <a:latin typeface="Calibri"/>
              </a:rPr>
              <a:t>Median spacing ≈ </a:t>
            </a:r>
            <a:r>
              <a:rPr sz="1700" b="1" i="0">
                <a:solidFill>
                  <a:srgbClr val="1B2631"/>
                </a:solidFill>
                <a:latin typeface="Calibri"/>
              </a:rPr>
              <a:t>24 h</a:t>
            </a:r>
            <a:r>
              <a:rPr sz="1700" b="0" i="0">
                <a:solidFill>
                  <a:srgbClr val="1B2631"/>
                </a:solidFill>
                <a:latin typeface="Calibri"/>
              </a:rPr>
              <a:t> (some gaps 5 h – 3 days)</a:t>
            </a:r>
          </a:p>
          <a:p>
            <a:pPr marL="274320" indent="-237744" algn="l">
              <a:spcAft>
                <a:spcPts val="600"/>
              </a:spcAft>
              <a:buClr>
                <a:srgbClr val="D9480F"/>
              </a:buClr>
              <a:buFont typeface="Arial"/>
              <a:buChar char="•"/>
            </a:pPr>
            <a:r>
              <a:rPr sz="1700" b="0" i="0">
                <a:solidFill>
                  <a:srgbClr val="1B2631"/>
                </a:solidFill>
                <a:latin typeface="Calibri"/>
              </a:rPr>
              <a:t>Temperature: strong </a:t>
            </a:r>
            <a:r>
              <a:rPr sz="1700" b="1" i="0">
                <a:solidFill>
                  <a:srgbClr val="1B2631"/>
                </a:solidFill>
                <a:latin typeface="Calibri"/>
              </a:rPr>
              <a:t>seasonality</a:t>
            </a:r>
            <a:r>
              <a:rPr sz="1700" b="0" i="0">
                <a:solidFill>
                  <a:srgbClr val="1B2631"/>
                </a:solidFill>
                <a:latin typeface="Calibri"/>
              </a:rPr>
              <a:t> (~−21°C to ~37°C in sample)</a:t>
            </a:r>
          </a:p>
          <a:p>
            <a:pPr marL="274320" indent="-237744" algn="l">
              <a:spcAft>
                <a:spcPts val="600"/>
              </a:spcAft>
              <a:buClr>
                <a:srgbClr val="D9480F"/>
              </a:buClr>
              <a:buFont typeface="Arial"/>
              <a:buChar char="•"/>
            </a:pPr>
            <a:r>
              <a:rPr sz="1700" b="0" i="0">
                <a:solidFill>
                  <a:srgbClr val="1B2631"/>
                </a:solidFill>
                <a:latin typeface="Calibri"/>
              </a:rPr>
              <a:t>Precipitation: mostly dry, </a:t>
            </a:r>
            <a:r>
              <a:rPr sz="1700" b="1" i="0">
                <a:solidFill>
                  <a:srgbClr val="1B2631"/>
                </a:solidFill>
                <a:latin typeface="Calibri"/>
              </a:rPr>
              <a:t>spiky</a:t>
            </a:r>
            <a:r>
              <a:rPr sz="1700" b="0" i="0">
                <a:solidFill>
                  <a:srgbClr val="1B2631"/>
                </a:solidFill>
                <a:latin typeface="Calibri"/>
              </a:rPr>
              <a:t> events (</a:t>
            </a:r>
            <a:r>
              <a:rPr sz="1700" b="0" i="0">
                <a:solidFill>
                  <a:srgbClr val="0E4D64"/>
                </a:solidFill>
                <a:latin typeface="Consolas"/>
              </a:rPr>
              <a:t>precip_mm</a:t>
            </a:r>
            <a:r>
              <a:rPr sz="1700" b="0" i="0">
                <a:solidFill>
                  <a:srgbClr val="1B2631"/>
                </a:solidFill>
                <a:latin typeface="Calibri"/>
              </a:rPr>
              <a:t> = reading at observation time, </a:t>
            </a:r>
            <a:r>
              <a:rPr sz="1700" b="1" i="0">
                <a:solidFill>
                  <a:srgbClr val="1B2631"/>
                </a:solidFill>
                <a:latin typeface="Calibri"/>
              </a:rPr>
              <a:t>not</a:t>
            </a:r>
            <a:r>
              <a:rPr sz="1700" b="0" i="0">
                <a:solidFill>
                  <a:srgbClr val="1B2631"/>
                </a:solidFill>
                <a:latin typeface="Calibri"/>
              </a:rPr>
              <a:t> a daily total — </a:t>
            </a:r>
            <a:r>
              <a:rPr sz="1700" b="1" i="0">
                <a:solidFill>
                  <a:srgbClr val="1B2631"/>
                </a:solidFill>
                <a:latin typeface="Calibri"/>
              </a:rPr>
              <a:t>EDA only</a:t>
            </a:r>
            <a:r>
              <a:rPr sz="1700" b="0" i="0">
                <a:solidFill>
                  <a:srgbClr val="1B2631"/>
                </a:solidFill>
                <a:latin typeface="Calibri"/>
              </a:rPr>
              <a:t>, not forecast)</a:t>
            </a:r>
          </a:p>
        </p:txBody>
      </p:sp>
      <p:pic>
        <p:nvPicPr>
          <p:cNvPr id="6" name="Picture 5" descr="kyiv_temp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88362"/>
            <a:ext cx="5410047" cy="2224475"/>
          </a:xfrm>
          <a:prstGeom prst="rect">
            <a:avLst/>
          </a:prstGeom>
          <a:ln w="9525">
            <a:solidFill>
              <a:srgbClr val="D5DDE2"/>
            </a:solidFill>
          </a:ln>
        </p:spPr>
      </p:pic>
      <p:pic>
        <p:nvPicPr>
          <p:cNvPr id="7" name="Picture 6" descr="kyiv_precipit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689953"/>
            <a:ext cx="5410047" cy="2221292"/>
          </a:xfrm>
          <a:prstGeom prst="rect">
            <a:avLst/>
          </a:prstGeom>
          <a:ln w="9525">
            <a:solidFill>
              <a:srgbClr val="D5DDE2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47472"/>
            <a:ext cx="795528" cy="292608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631"/>
                </a:solidFill>
                <a:latin typeface="Cambria"/>
              </a:rPr>
              <a:t>Forecasting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7145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  <a:latin typeface="Calibri"/>
              </a:rPr>
              <a:t>6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74320" indent="-237744" algn="l">
              <a:spcAft>
                <a:spcPts val="600"/>
              </a:spcAft>
              <a:buClr>
                <a:srgbClr val="D9480F"/>
              </a:buClr>
              <a:buFont typeface="Arial"/>
              <a:buChar char="•"/>
            </a:pPr>
            <a:r>
              <a:rPr sz="1900" b="1" i="0">
                <a:solidFill>
                  <a:srgbClr val="1B2631"/>
                </a:solidFill>
                <a:latin typeface="Calibri"/>
              </a:rPr>
              <a:t>80% / 20% chronological split</a:t>
            </a:r>
            <a:r>
              <a:rPr sz="1900" b="0" i="0">
                <a:solidFill>
                  <a:srgbClr val="1B2631"/>
                </a:solidFill>
                <a:latin typeface="Calibri"/>
              </a:rPr>
              <a:t> (no shuffle — avoids leakage)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E4D64"/>
                </a:solidFill>
                <a:latin typeface="Calibri"/>
              </a:rPr>
              <a:t>Models compared on holdout: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97480"/>
            <a:ext cx="2602153" cy="233172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77240" y="2926080"/>
            <a:ext cx="502920" cy="50292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11880"/>
            <a:ext cx="2144953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B2631"/>
                </a:solidFill>
                <a:latin typeface="Calibri"/>
              </a:rPr>
              <a:t>Naive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D6D7E"/>
                </a:solidFill>
                <a:latin typeface="Calibri"/>
              </a:rPr>
              <a:t>(persistence)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79393" y="2697480"/>
            <a:ext cx="2602153" cy="233172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607993" y="2926080"/>
            <a:ext cx="502920" cy="50292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7993" y="3611880"/>
            <a:ext cx="2144953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B2631"/>
                </a:solidFill>
                <a:latin typeface="Calibri"/>
              </a:rPr>
              <a:t>Seasonal naive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D6D7E"/>
                </a:solidFill>
                <a:latin typeface="Calibri"/>
              </a:rPr>
              <a:t>(365-row lag)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0147" y="2697480"/>
            <a:ext cx="2602153" cy="233172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438747" y="2926080"/>
            <a:ext cx="502920" cy="50292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747" y="3611880"/>
            <a:ext cx="2144953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B2631"/>
                </a:solidFill>
                <a:latin typeface="Calibri"/>
              </a:rPr>
              <a:t>Ridge regression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D6D7E"/>
                </a:solidFill>
                <a:latin typeface="Calibri"/>
              </a:rPr>
              <a:t>on lags [1, 2, 3, 7, 14, 28]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40901" y="2697480"/>
            <a:ext cx="2602153" cy="2331720"/>
          </a:xfrm>
          <a:prstGeom prst="roundRect">
            <a:avLst>
              <a:gd name="adj" fmla="val 60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269501" y="2926080"/>
            <a:ext cx="502920" cy="502920"/>
          </a:xfrm>
          <a:prstGeom prst="ellipse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9501" y="3611880"/>
            <a:ext cx="2144953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B2631"/>
                </a:solidFill>
                <a:latin typeface="Calibri"/>
              </a:rPr>
              <a:t>Ensemble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D6D7E"/>
                </a:solidFill>
                <a:latin typeface="Calibri"/>
              </a:rPr>
              <a:t>= unweighted mean of </a:t>
            </a:r>
            <a:r>
              <a:rPr sz="1500" b="1" i="0">
                <a:solidFill>
                  <a:srgbClr val="5D6D7E"/>
                </a:solidFill>
                <a:latin typeface="Calibri"/>
              </a:rPr>
              <a:t>Ridge + naive</a:t>
            </a:r>
            <a:r>
              <a:rPr sz="1500" b="0" i="0">
                <a:solidFill>
                  <a:srgbClr val="5D6D7E"/>
                </a:solidFill>
                <a:latin typeface="Calibri"/>
              </a:rPr>
              <a:t> (the two lowest holdout MAE models)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349240"/>
            <a:ext cx="11094415" cy="640080"/>
          </a:xfrm>
          <a:prstGeom prst="roundRect">
            <a:avLst>
              <a:gd name="adj" fmla="val 6000"/>
            </a:avLst>
          </a:prstGeom>
          <a:solidFill>
            <a:srgbClr val="E3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59" y="5349240"/>
            <a:ext cx="10545775" cy="6400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631"/>
                </a:solidFill>
                <a:latin typeface="Calibri"/>
              </a:rPr>
              <a:t>Metrics: </a:t>
            </a:r>
            <a:r>
              <a:rPr sz="1800" b="1" i="0">
                <a:solidFill>
                  <a:srgbClr val="1B2631"/>
                </a:solidFill>
                <a:latin typeface="Calibri"/>
              </a:rPr>
              <a:t>MAE</a:t>
            </a:r>
            <a:r>
              <a:rPr sz="1800" b="0" i="0">
                <a:solidFill>
                  <a:srgbClr val="1B2631"/>
                </a:solidFill>
                <a:latin typeface="Calibri"/>
              </a:rPr>
              <a:t> and </a:t>
            </a:r>
            <a:r>
              <a:rPr sz="1800" b="1" i="0">
                <a:solidFill>
                  <a:srgbClr val="1B2631"/>
                </a:solidFill>
                <a:latin typeface="Calibri"/>
              </a:rPr>
              <a:t>RMSE</a:t>
            </a:r>
            <a:r>
              <a:rPr sz="1800" b="0" i="0">
                <a:solidFill>
                  <a:srgbClr val="1B2631"/>
                </a:solidFill>
                <a:latin typeface="Calibri"/>
              </a:rPr>
              <a:t> (°C)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47472"/>
            <a:ext cx="882396" cy="292608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631"/>
                </a:solidFill>
                <a:latin typeface="Cambria"/>
              </a:rPr>
              <a:t>Forecasting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7145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  <a:latin typeface="Calibri"/>
              </a:rPr>
              <a:t>7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52120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137160" marR="137160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MAE (°C)</a:t>
                      </a:r>
                    </a:p>
                  </a:txBody>
                  <a:tcPr marL="137160" marR="137160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RMSE (°C)</a:t>
                      </a:r>
                    </a:p>
                  </a:txBody>
                  <a:tcPr marL="137160" marR="137160" anchor="ctr"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B2631"/>
                          </a:solidFill>
                          <a:latin typeface="Calibri"/>
                        </a:rPr>
                        <a:t>Naive</a:t>
                      </a:r>
                    </a:p>
                  </a:txBody>
                  <a:tcPr marL="137160" marR="137160" anchor="ctr"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1B2631"/>
                          </a:solidFill>
                          <a:latin typeface="Calibri"/>
                        </a:rPr>
                        <a:t>2.509</a:t>
                      </a:r>
                    </a:p>
                  </a:txBody>
                  <a:tcPr marL="137160" marR="137160" anchor="ctr"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1B2631"/>
                          </a:solidFill>
                          <a:latin typeface="Calibri"/>
                        </a:rPr>
                        <a:t>3.753</a:t>
                      </a:r>
                    </a:p>
                  </a:txBody>
                  <a:tcPr marL="137160" marR="137160" anchor="ctr">
                    <a:solidFill>
                      <a:srgbClr val="EE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B2631"/>
                          </a:solidFill>
                          <a:latin typeface="Calibri"/>
                        </a:rPr>
                        <a:t>Seasonal naive (365)</a:t>
                      </a:r>
                    </a:p>
                  </a:txBody>
                  <a:tcPr marL="137160" marR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1B2631"/>
                          </a:solidFill>
                          <a:latin typeface="Calibri"/>
                        </a:rPr>
                        <a:t>5.993</a:t>
                      </a:r>
                    </a:p>
                  </a:txBody>
                  <a:tcPr marL="137160" marR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1B2631"/>
                          </a:solidFill>
                          <a:latin typeface="Calibri"/>
                        </a:rPr>
                        <a:t>7.528</a:t>
                      </a:r>
                    </a:p>
                  </a:txBody>
                  <a:tcPr marL="137160" marR="1371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1B2631"/>
                          </a:solidFill>
                          <a:latin typeface="Calibri"/>
                        </a:rPr>
                        <a:t>Ridge (lags)</a:t>
                      </a:r>
                    </a:p>
                  </a:txBody>
                  <a:tcPr marL="137160" marR="137160" anchor="ctr">
                    <a:solidFill>
                      <a:srgbClr val="FCEBE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1B2631"/>
                          </a:solidFill>
                          <a:latin typeface="Calibri"/>
                        </a:rPr>
                        <a:t>2.474</a:t>
                      </a:r>
                    </a:p>
                  </a:txBody>
                  <a:tcPr marL="137160" marR="137160" anchor="ctr">
                    <a:solidFill>
                      <a:srgbClr val="FCEBE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1B2631"/>
                          </a:solidFill>
                          <a:latin typeface="Calibri"/>
                        </a:rPr>
                        <a:t>3.599</a:t>
                      </a:r>
                    </a:p>
                  </a:txBody>
                  <a:tcPr marL="137160" marR="137160" anchor="ctr">
                    <a:solidFill>
                      <a:srgbClr val="FCEB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B2631"/>
                          </a:solidFill>
                          <a:latin typeface="Calibri"/>
                        </a:rPr>
                        <a:t>Ensemble</a:t>
                      </a:r>
                    </a:p>
                  </a:txBody>
                  <a:tcPr marL="137160" marR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1B2631"/>
                          </a:solidFill>
                          <a:latin typeface="Calibri"/>
                        </a:rPr>
                        <a:t>2.474</a:t>
                      </a:r>
                    </a:p>
                  </a:txBody>
                  <a:tcPr marL="137160" marR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1B2631"/>
                          </a:solidFill>
                          <a:latin typeface="Calibri"/>
                        </a:rPr>
                        <a:t>3.653</a:t>
                      </a:r>
                    </a:p>
                  </a:txBody>
                  <a:tcPr marL="137160" marR="1371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931920"/>
            <a:ext cx="5212080" cy="2468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E4D64"/>
                </a:solidFill>
                <a:latin typeface="Calibri"/>
              </a:rPr>
              <a:t>Takeaways:</a:t>
            </a:r>
          </a:p>
          <a:p>
            <a:pPr marL="274320" indent="-237744" algn="l">
              <a:spcAft>
                <a:spcPts val="600"/>
              </a:spcAft>
              <a:buClr>
                <a:srgbClr val="D9480F"/>
              </a:buClr>
              <a:buFont typeface="Arial"/>
              <a:buChar char="•"/>
            </a:pPr>
            <a:r>
              <a:rPr sz="1400" b="0" i="0">
                <a:solidFill>
                  <a:srgbClr val="1B2631"/>
                </a:solidFill>
                <a:latin typeface="Calibri"/>
              </a:rPr>
              <a:t>Ridge best on RMSE (</a:t>
            </a:r>
            <a:r>
              <a:rPr sz="1400" b="1" i="0">
                <a:solidFill>
                  <a:srgbClr val="1B2631"/>
                </a:solidFill>
                <a:latin typeface="Calibri"/>
              </a:rPr>
              <a:t>3.599°C</a:t>
            </a:r>
            <a:r>
              <a:rPr sz="1400" b="0" i="0">
                <a:solidFill>
                  <a:srgbClr val="1B2631"/>
                </a:solidFill>
                <a:latin typeface="Calibri"/>
              </a:rPr>
              <a:t>); naive close.</a:t>
            </a:r>
          </a:p>
          <a:p>
            <a:pPr marL="274320" indent="-237744" algn="l">
              <a:spcAft>
                <a:spcPts val="600"/>
              </a:spcAft>
              <a:buClr>
                <a:srgbClr val="D9480F"/>
              </a:buClr>
              <a:buFont typeface="Arial"/>
              <a:buChar char="•"/>
            </a:pPr>
            <a:r>
              <a:rPr sz="1400" b="1" i="0">
                <a:solidFill>
                  <a:srgbClr val="1B2631"/>
                </a:solidFill>
                <a:latin typeface="Calibri"/>
              </a:rPr>
              <a:t>Seasonal naive loses:</a:t>
            </a:r>
            <a:r>
              <a:rPr sz="1400" b="0" i="0">
                <a:solidFill>
                  <a:srgbClr val="1B2631"/>
                </a:solidFill>
                <a:latin typeface="Calibri"/>
              </a:rPr>
              <a:t> last year’s same date (within ~1 day) ≠ today’s weather; Kyiv’s </a:t>
            </a:r>
            <a:r>
              <a:rPr sz="1400" b="1" i="0">
                <a:solidFill>
                  <a:srgbClr val="1B2631"/>
                </a:solidFill>
                <a:latin typeface="Calibri"/>
              </a:rPr>
              <a:t>observation hour drift</a:t>
            </a:r>
            <a:r>
              <a:rPr sz="1400" b="0" i="0">
                <a:solidFill>
                  <a:srgbClr val="1B2631"/>
                </a:solidFill>
                <a:latin typeface="Calibri"/>
              </a:rPr>
              <a:t> adds time-of-day bias to year-over-year comparisons (MAE </a:t>
            </a:r>
            <a:r>
              <a:rPr sz="1400" b="1" i="0">
                <a:solidFill>
                  <a:srgbClr val="1B2631"/>
                </a:solidFill>
                <a:latin typeface="Calibri"/>
              </a:rPr>
              <a:t>5.99°C</a:t>
            </a:r>
            <a:r>
              <a:rPr sz="1400" b="0" i="0">
                <a:solidFill>
                  <a:srgbClr val="1B2631"/>
                </a:solidFill>
                <a:latin typeface="Calibri"/>
              </a:rPr>
              <a:t>).</a:t>
            </a:r>
          </a:p>
          <a:p>
            <a:pPr marL="274320" indent="-237744" algn="l">
              <a:spcAft>
                <a:spcPts val="600"/>
              </a:spcAft>
              <a:buClr>
                <a:srgbClr val="D9480F"/>
              </a:buClr>
              <a:buFont typeface="Arial"/>
              <a:buChar char="•"/>
            </a:pPr>
            <a:r>
              <a:rPr sz="1400" b="0" i="0">
                <a:solidFill>
                  <a:srgbClr val="1B2631"/>
                </a:solidFill>
                <a:latin typeface="Calibri"/>
              </a:rPr>
              <a:t>Ensemble MAE ties Ridge at </a:t>
            </a:r>
            <a:r>
              <a:rPr sz="1400" b="1" i="0">
                <a:solidFill>
                  <a:srgbClr val="1B2631"/>
                </a:solidFill>
                <a:latin typeface="Calibri"/>
              </a:rPr>
              <a:t>2.474°C</a:t>
            </a:r>
            <a:r>
              <a:rPr sz="1400" b="0" i="0">
                <a:solidFill>
                  <a:srgbClr val="1B2631"/>
                </a:solidFill>
                <a:latin typeface="Calibri"/>
              </a:rPr>
              <a:t> (rounding); Ridge remains primary model.</a:t>
            </a:r>
          </a:p>
        </p:txBody>
      </p:sp>
      <p:pic>
        <p:nvPicPr>
          <p:cNvPr id="7" name="Picture 6" descr="kyiv_forecast_ho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48746"/>
            <a:ext cx="5516575" cy="2006027"/>
          </a:xfrm>
          <a:prstGeom prst="rect">
            <a:avLst/>
          </a:prstGeom>
          <a:ln w="9525">
            <a:solidFill>
              <a:srgbClr val="D5DDE2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6126480" y="4114800"/>
            <a:ext cx="2666847" cy="146304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4251960"/>
            <a:ext cx="2301087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E4D64"/>
                </a:solidFill>
                <a:latin typeface="Cambria"/>
              </a:rPr>
              <a:t>2.474°C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4983480"/>
            <a:ext cx="2301087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D6D7E"/>
                </a:solidFill>
                <a:latin typeface="Calibri"/>
              </a:rPr>
              <a:t>MAE — Ridge (ensemble ties)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76207" y="4114800"/>
            <a:ext cx="2666847" cy="146304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04807" y="4251960"/>
            <a:ext cx="2301087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E4D64"/>
                </a:solidFill>
                <a:latin typeface="Cambria"/>
              </a:rPr>
              <a:t>3.599°C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04807" y="4983480"/>
            <a:ext cx="2301087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D6D7E"/>
                </a:solidFill>
                <a:latin typeface="Calibri"/>
              </a:rPr>
              <a:t>RMSE — Ridge (lowest)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47472"/>
            <a:ext cx="1056132" cy="292608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ANOMALIES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631"/>
                </a:solidFill>
                <a:latin typeface="Cambria"/>
              </a:rPr>
              <a:t>Anomaly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7145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  <a:latin typeface="Calibri"/>
              </a:rPr>
              <a:t>8 /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08760"/>
            <a:ext cx="5410047" cy="160020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D9480F"/>
                </a:solidFill>
                <a:latin typeface="Cambria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664208"/>
            <a:ext cx="3901287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B2631"/>
                </a:solidFill>
                <a:latin typeface="Calibri"/>
              </a:rPr>
              <a:t>Robust z-score</a:t>
            </a:r>
            <a:r>
              <a:rPr sz="1300" b="0" i="0">
                <a:solidFill>
                  <a:srgbClr val="1B2631"/>
                </a:solidFill>
                <a:latin typeface="Calibri"/>
              </a:rPr>
              <a:t> (30-day rolling median / MAD, threshold 3.5): </a:t>
            </a:r>
            <a:r>
              <a:rPr sz="1300" b="1" i="0">
                <a:solidFill>
                  <a:srgbClr val="1B2631"/>
                </a:solidFill>
                <a:latin typeface="Calibri"/>
              </a:rPr>
              <a:t>9</a:t>
            </a:r>
            <a:r>
              <a:rPr sz="1300" b="0" i="0">
                <a:solidFill>
                  <a:srgbClr val="1B2631"/>
                </a:solidFill>
                <a:latin typeface="Calibri"/>
              </a:rPr>
              <a:t> flagged days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2631"/>
                </a:solidFill>
                <a:latin typeface="Calibri"/>
              </a:rPr>
              <a:t>Example: </a:t>
            </a:r>
            <a:r>
              <a:rPr sz="1300" b="1" i="0">
                <a:solidFill>
                  <a:srgbClr val="1B2631"/>
                </a:solidFill>
                <a:latin typeface="Calibri"/>
              </a:rPr>
              <a:t>2026-08-17</a:t>
            </a:r>
            <a:r>
              <a:rPr sz="1300" b="0" i="0">
                <a:solidFill>
                  <a:srgbClr val="1B2631"/>
                </a:solidFill>
                <a:latin typeface="Calibri"/>
              </a:rPr>
              <a:t> reads </a:t>
            </a:r>
            <a:r>
              <a:rPr sz="1300" b="1" i="0">
                <a:solidFill>
                  <a:srgbClr val="1B2631"/>
                </a:solidFill>
                <a:latin typeface="Calibri"/>
              </a:rPr>
              <a:t>1.1°C</a:t>
            </a:r>
            <a:r>
              <a:rPr sz="1300" b="0" i="0">
                <a:solidFill>
                  <a:srgbClr val="1B2631"/>
                </a:solidFill>
                <a:latin typeface="Calibri"/>
              </a:rPr>
              <a:t> in the </a:t>
            </a:r>
            <a:r>
              <a:rPr sz="1300" b="1" i="0">
                <a:solidFill>
                  <a:srgbClr val="1B2631"/>
                </a:solidFill>
                <a:latin typeface="Calibri"/>
              </a:rPr>
              <a:t>test window</a:t>
            </a:r>
            <a:r>
              <a:rPr sz="1300" b="0" i="0">
                <a:solidFill>
                  <a:srgbClr val="1B2631"/>
                </a:solidFill>
                <a:latin typeface="Calibri"/>
              </a:rPr>
              <a:t> (likely scrape error). The two </a:t>
            </a:r>
            <a:r>
              <a:rPr sz="1300" b="1" i="0">
                <a:solidFill>
                  <a:srgbClr val="1B2631"/>
                </a:solidFill>
                <a:latin typeface="Calibri"/>
              </a:rPr>
              <a:t>2024-05-16</a:t>
            </a:r>
            <a:r>
              <a:rPr sz="1300" b="0" i="0">
                <a:solidFill>
                  <a:srgbClr val="1B2631"/>
                </a:solidFill>
                <a:latin typeface="Calibri"/>
              </a:rPr>
              <a:t> flags are </a:t>
            </a:r>
            <a:r>
              <a:rPr sz="1300" b="1" i="0">
                <a:solidFill>
                  <a:srgbClr val="1B2631"/>
                </a:solidFill>
                <a:latin typeface="Calibri"/>
              </a:rPr>
              <a:t>edge effects</a:t>
            </a:r>
            <a:r>
              <a:rPr sz="1300" b="0" i="0">
                <a:solidFill>
                  <a:srgbClr val="1B2631"/>
                </a:solidFill>
                <a:latin typeface="Calibri"/>
              </a:rPr>
              <a:t> of the centered window at the series start.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508760"/>
            <a:ext cx="5410047" cy="160020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61607" y="1645920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D9480F"/>
                </a:solidFill>
                <a:latin typeface="Cambria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13167" y="1664208"/>
            <a:ext cx="3901287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B2631"/>
                </a:solidFill>
                <a:latin typeface="Calibri"/>
              </a:rPr>
              <a:t>Isolation Forest</a:t>
            </a:r>
            <a:r>
              <a:rPr sz="1300" b="0" i="0">
                <a:solidFill>
                  <a:srgbClr val="1B2631"/>
                </a:solidFill>
                <a:latin typeface="Calibri"/>
              </a:rPr>
              <a:t> (temp + precip, 2% contamination): </a:t>
            </a:r>
            <a:r>
              <a:rPr sz="1300" b="1" i="0">
                <a:solidFill>
                  <a:srgbClr val="1B2631"/>
                </a:solidFill>
                <a:latin typeface="Calibri"/>
              </a:rPr>
              <a:t>18</a:t>
            </a:r>
            <a:r>
              <a:rPr sz="1300" b="0" i="0">
                <a:solidFill>
                  <a:srgbClr val="1B2631"/>
                </a:solidFill>
                <a:latin typeface="Calibri"/>
              </a:rPr>
              <a:t> points (</a:t>
            </a:r>
            <a:r>
              <a:rPr sz="1300" b="1" i="0">
                <a:solidFill>
                  <a:srgbClr val="1B2631"/>
                </a:solidFill>
                <a:latin typeface="Calibri"/>
              </a:rPr>
              <a:t>top 2% by construction</a:t>
            </a:r>
            <a:r>
              <a:rPr sz="1300" b="0" i="0">
                <a:solidFill>
                  <a:srgbClr val="1B2631"/>
                </a:solidFill>
                <a:latin typeface="Calibri"/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46120"/>
            <a:ext cx="11094415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D6D7E"/>
                </a:solidFill>
                <a:latin typeface="Calibri"/>
              </a:rPr>
              <a:t>Different methods → different counts (univariate local vs joint extremes)</a:t>
            </a:r>
          </a:p>
        </p:txBody>
      </p:sp>
      <p:pic>
        <p:nvPicPr>
          <p:cNvPr id="12" name="Picture 11" descr="kyiv_anomal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1082" y="3657600"/>
            <a:ext cx="7669529" cy="2788920"/>
          </a:xfrm>
          <a:prstGeom prst="rect">
            <a:avLst/>
          </a:prstGeom>
          <a:ln w="9525">
            <a:solidFill>
              <a:srgbClr val="D5DDE2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47472"/>
            <a:ext cx="1837943" cy="292608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FEATURE IMPORTANCE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631"/>
                </a:solidFill>
                <a:latin typeface="Cambria"/>
              </a:rPr>
              <a:t>Feature importance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7145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  <a:latin typeface="Calibri"/>
              </a:rPr>
              <a:t>9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5120640" cy="4754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0E4D64"/>
                </a:solidFill>
                <a:latin typeface="Calibri"/>
              </a:rPr>
              <a:t>Ridge coefficients on lag features (Kyiv, full series):</a:t>
            </a:r>
          </a:p>
          <a:p>
            <a:pPr marL="274320" indent="-237744" algn="l">
              <a:spcAft>
                <a:spcPts val="1000"/>
              </a:spcAft>
              <a:buClr>
                <a:srgbClr val="D9480F"/>
              </a:buClr>
              <a:buFont typeface="Arial"/>
              <a:buChar char="•"/>
            </a:pPr>
            <a:r>
              <a:rPr sz="1600" b="1" i="0">
                <a:solidFill>
                  <a:srgbClr val="1B2631"/>
                </a:solidFill>
                <a:latin typeface="Calibri"/>
              </a:rPr>
              <a:t>lag_1:</a:t>
            </a:r>
            <a:r>
              <a:rPr sz="1600" b="0" i="0">
                <a:solidFill>
                  <a:srgbClr val="1B2631"/>
                </a:solidFill>
                <a:latin typeface="Calibri"/>
              </a:rPr>
              <a:t> 0.796 — yesterday dominates</a:t>
            </a:r>
          </a:p>
          <a:p>
            <a:pPr marL="274320" indent="-237744" algn="l">
              <a:spcAft>
                <a:spcPts val="1000"/>
              </a:spcAft>
              <a:buClr>
                <a:srgbClr val="D9480F"/>
              </a:buClr>
              <a:buFont typeface="Arial"/>
              <a:buChar char="•"/>
            </a:pPr>
            <a:r>
              <a:rPr sz="1600" b="1" i="0">
                <a:solidFill>
                  <a:srgbClr val="1B2631"/>
                </a:solidFill>
                <a:latin typeface="Calibri"/>
              </a:rPr>
              <a:t>lag_7:</a:t>
            </a:r>
            <a:r>
              <a:rPr sz="1600" b="0" i="0">
                <a:solidFill>
                  <a:srgbClr val="1B2631"/>
                </a:solidFill>
                <a:latin typeface="Calibri"/>
              </a:rPr>
              <a:t> 0.093 — week-scale signal</a:t>
            </a:r>
          </a:p>
          <a:p>
            <a:pPr marL="274320" indent="-237744" algn="l">
              <a:spcAft>
                <a:spcPts val="1000"/>
              </a:spcAft>
              <a:buClr>
                <a:srgbClr val="D9480F"/>
              </a:buClr>
              <a:buFont typeface="Arial"/>
              <a:buChar char="•"/>
            </a:pPr>
            <a:r>
              <a:rPr sz="1600" b="1" i="0">
                <a:solidFill>
                  <a:srgbClr val="1B2631"/>
                </a:solidFill>
                <a:latin typeface="Calibri"/>
              </a:rPr>
              <a:t>lag_14 / lag_3:</a:t>
            </a:r>
            <a:r>
              <a:rPr sz="1600" b="0" i="0">
                <a:solidFill>
                  <a:srgbClr val="1B2631"/>
                </a:solidFill>
                <a:latin typeface="Calibri"/>
              </a:rPr>
              <a:t> smaller</a:t>
            </a:r>
          </a:p>
          <a:p>
            <a:pPr marL="274320" indent="-237744" algn="l">
              <a:spcAft>
                <a:spcPts val="1800"/>
              </a:spcAft>
              <a:buClr>
                <a:srgbClr val="D9480F"/>
              </a:buClr>
              <a:buFont typeface="Arial"/>
              <a:buChar char="•"/>
            </a:pPr>
            <a:r>
              <a:rPr sz="1600" b="1" i="0">
                <a:solidFill>
                  <a:srgbClr val="1B2631"/>
                </a:solidFill>
                <a:latin typeface="Calibri"/>
              </a:rPr>
              <a:t>lag_28 / lag_2:</a:t>
            </a:r>
            <a:r>
              <a:rPr sz="1600" b="0" i="0">
                <a:solidFill>
                  <a:srgbClr val="1B2631"/>
                </a:solidFill>
                <a:latin typeface="Calibri"/>
              </a:rPr>
              <a:t> coefficients ≈ 0 — </a:t>
            </a:r>
            <a:r>
              <a:rPr sz="1600" b="1" i="0">
                <a:solidFill>
                  <a:srgbClr val="1B2631"/>
                </a:solidFill>
                <a:latin typeface="Calibri"/>
              </a:rPr>
              <a:t>lag_2 is almost perfectly correlated with lag_1 (r ≈ 0.96)</a:t>
            </a:r>
            <a:r>
              <a:rPr sz="1600" b="0" i="0">
                <a:solidFill>
                  <a:srgbClr val="1B2631"/>
                </a:solidFill>
                <a:latin typeface="Calibri"/>
              </a:rPr>
              <a:t>; coefs from full-series fit (shift if refit on train only)</a:t>
            </a:r>
          </a:p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D6D7E"/>
                </a:solidFill>
                <a:latin typeface="Calibri"/>
              </a:rPr>
              <a:t>Aligns with notebook 02: persistence baseline almost matches Ridge.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00200"/>
            <a:ext cx="5608015" cy="3078327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kyiv_lag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59" y="1874519"/>
            <a:ext cx="5059375" cy="2529687"/>
          </a:xfrm>
          <a:prstGeom prst="rect">
            <a:avLst/>
          </a:prstGeom>
          <a:ln w="9525">
            <a:solidFill>
              <a:srgbClr val="D5DDE2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47472"/>
            <a:ext cx="1229868" cy="292608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631"/>
                </a:solidFill>
                <a:latin typeface="Cambria"/>
              </a:rPr>
              <a:t>Environmental analysis (Kyiv)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7145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  <a:latin typeface="Calibri"/>
              </a:rPr>
              <a:t>10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4754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700" b="0" i="1">
                <a:solidFill>
                  <a:srgbClr val="5D6D7E"/>
                </a:solidFill>
                <a:latin typeface="Calibri"/>
              </a:rPr>
              <a:t>Correlation (not causation) — strongest pairs: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4754880" cy="1097280"/>
          </a:xfrm>
          <a:prstGeom prst="roundRect">
            <a:avLst>
              <a:gd name="adj" fmla="val 60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2423160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B2631"/>
                </a:solidFill>
                <a:latin typeface="Calibri"/>
              </a:rPr>
              <a:t>Temperature ↔ </a:t>
            </a:r>
            <a:r>
              <a:rPr sz="1600" b="1" i="0">
                <a:solidFill>
                  <a:srgbClr val="1B2631"/>
                </a:solidFill>
                <a:latin typeface="Calibri"/>
              </a:rPr>
              <a:t>ozone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D9480F"/>
                </a:solidFill>
                <a:latin typeface="Cambria"/>
              </a:rPr>
              <a:t>r ≈ +0.54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11880"/>
            <a:ext cx="4754880" cy="1097280"/>
          </a:xfrm>
          <a:prstGeom prst="roundRect">
            <a:avLst>
              <a:gd name="adj" fmla="val 6000"/>
            </a:avLst>
          </a:prstGeom>
          <a:solidFill>
            <a:srgbClr val="E3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59" y="3749040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B2631"/>
                </a:solidFill>
                <a:latin typeface="Calibri"/>
              </a:rPr>
              <a:t>Humidity ↔ </a:t>
            </a:r>
            <a:r>
              <a:rPr sz="1600" b="1" i="0">
                <a:solidFill>
                  <a:srgbClr val="1B2631"/>
                </a:solidFill>
                <a:latin typeface="Calibri"/>
              </a:rPr>
              <a:t>ozone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069080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E4D64"/>
                </a:solidFill>
                <a:latin typeface="Cambria"/>
              </a:rPr>
              <a:t>r ≈ −0.49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37760"/>
            <a:ext cx="4754880" cy="1097280"/>
          </a:xfrm>
          <a:prstGeom prst="roundRect">
            <a:avLst>
              <a:gd name="adj" fmla="val 60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5074920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B2631"/>
                </a:solidFill>
                <a:latin typeface="Calibri"/>
              </a:rPr>
              <a:t>Pressure ↔ </a:t>
            </a:r>
            <a:r>
              <a:rPr sz="1600" b="1" i="0">
                <a:solidFill>
                  <a:srgbClr val="1B2631"/>
                </a:solidFill>
                <a:latin typeface="Calibri"/>
              </a:rPr>
              <a:t>SO₂ / NO₂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5394960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D9480F"/>
                </a:solidFill>
                <a:latin typeface="Cambria"/>
              </a:rPr>
              <a:t>r ≈ +0.36–0.37</a:t>
            </a:r>
          </a:p>
        </p:txBody>
      </p:sp>
      <p:pic>
        <p:nvPicPr>
          <p:cNvPr id="15" name="Picture 14" descr="kyiv_air_quality_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542409"/>
            <a:ext cx="5973775" cy="4779020"/>
          </a:xfrm>
          <a:prstGeom prst="rect">
            <a:avLst/>
          </a:prstGeom>
          <a:ln w="9525">
            <a:solidFill>
              <a:srgbClr val="D5DDE2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47472"/>
            <a:ext cx="1056132" cy="292608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GEOGRAPHY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631"/>
                </a:solidFill>
                <a:latin typeface="Cambria"/>
              </a:rPr>
              <a:t>Geographical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7145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  <a:latin typeface="Calibri"/>
              </a:rPr>
              <a:t>11 / 14</a:t>
            </a:r>
          </a:p>
        </p:txBody>
      </p:sp>
      <p:pic>
        <p:nvPicPr>
          <p:cNvPr id="5" name="Picture 4" descr="country_mean_temp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17904"/>
            <a:ext cx="6035040" cy="4828031"/>
          </a:xfrm>
          <a:prstGeom prst="rect">
            <a:avLst/>
          </a:prstGeom>
          <a:ln w="9525">
            <a:solidFill>
              <a:srgbClr val="D5DDE2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949440" y="1554480"/>
            <a:ext cx="4693615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B2631"/>
                </a:solidFill>
                <a:latin typeface="Calibri"/>
              </a:rPr>
              <a:t>Mean </a:t>
            </a:r>
            <a:r>
              <a:rPr sz="1500" b="0" i="0">
                <a:solidFill>
                  <a:srgbClr val="0E4D64"/>
                </a:solidFill>
                <a:latin typeface="Consolas"/>
              </a:rPr>
              <a:t>temperature_celsius</a:t>
            </a:r>
            <a:r>
              <a:rPr sz="1500" b="0" i="0">
                <a:solidFill>
                  <a:srgbClr val="1B2631"/>
                </a:solidFill>
                <a:latin typeface="Calibri"/>
              </a:rPr>
              <a:t> by </a:t>
            </a:r>
            <a:r>
              <a:rPr sz="1500" b="1" i="0">
                <a:solidFill>
                  <a:srgbClr val="1B2631"/>
                </a:solidFill>
                <a:latin typeface="Calibri"/>
              </a:rPr>
              <a:t>country</a:t>
            </a:r>
            <a:r>
              <a:rPr sz="1500" b="0" i="0">
                <a:solidFill>
                  <a:srgbClr val="1B2631"/>
                </a:solidFill>
                <a:latin typeface="Calibri"/>
              </a:rPr>
              <a:t>, only countries with </a:t>
            </a:r>
            <a:r>
              <a:rPr sz="1500" b="1" i="0">
                <a:solidFill>
                  <a:srgbClr val="1B2631"/>
                </a:solidFill>
                <a:latin typeface="Calibri"/>
              </a:rPr>
              <a:t>≥100 rows</a:t>
            </a:r>
            <a:r>
              <a:rPr sz="1500" b="0" i="0">
                <a:solidFill>
                  <a:srgbClr val="1B2631"/>
                </a:solidFill>
                <a:latin typeface="Calibri"/>
              </a:rPr>
              <a:t> (186 included; 25 sparse excluded):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2514600"/>
            <a:ext cx="4693615" cy="1188720"/>
          </a:xfrm>
          <a:prstGeom prst="roundRect">
            <a:avLst>
              <a:gd name="adj" fmla="val 60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223759" y="2651760"/>
            <a:ext cx="4144975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480F"/>
                </a:solidFill>
                <a:latin typeface="Calibri"/>
              </a:rPr>
              <a:t>Highest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B2631"/>
                </a:solidFill>
                <a:latin typeface="Calibri"/>
              </a:rPr>
              <a:t>Qatar, United Arab Emirates, Cambodia (~32–33°C mean)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3886200"/>
            <a:ext cx="4693615" cy="1188720"/>
          </a:xfrm>
          <a:prstGeom prst="roundRect">
            <a:avLst>
              <a:gd name="adj" fmla="val 6000"/>
            </a:avLst>
          </a:prstGeom>
          <a:solidFill>
            <a:srgbClr val="E3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223759" y="4023360"/>
            <a:ext cx="4144975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E4D64"/>
                </a:solidFill>
                <a:latin typeface="Calibri"/>
              </a:rPr>
              <a:t>Lowest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B2631"/>
                </a:solidFill>
                <a:latin typeface="Calibri"/>
              </a:rPr>
              <a:t>Iceland, Mongolia, Canada (~5.7–6.6°C mean)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5349240"/>
            <a:ext cx="4693615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D6D7E"/>
                </a:solidFill>
                <a:latin typeface="Calibri"/>
              </a:rPr>
              <a:t>Limitations:</a:t>
            </a:r>
            <a:r>
              <a:rPr sz="1300" b="0" i="0">
                <a:solidFill>
                  <a:srgbClr val="5D6D7E"/>
                </a:solidFill>
                <a:latin typeface="Calibri"/>
              </a:rPr>
              <a:t> Mixed-language country labels; means over scrape snapshots, not WMO climate normals.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47472"/>
            <a:ext cx="882396" cy="292608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631"/>
                </a:solidFill>
                <a:latin typeface="Cambria"/>
              </a:rPr>
              <a:t>Limitations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7145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  <a:latin typeface="Calibri"/>
              </a:rPr>
              <a:t>12 /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364327" cy="3931920"/>
          </a:xfrm>
          <a:prstGeom prst="roundRect">
            <a:avLst>
              <a:gd name="adj" fmla="val 6000"/>
            </a:avLst>
          </a:prstGeom>
          <a:solidFill>
            <a:srgbClr val="E3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4632807" cy="3474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600"/>
              </a:spcAft>
            </a:pPr>
            <a:r>
              <a:rPr sz="2400" b="1" i="0">
                <a:solidFill>
                  <a:srgbClr val="0E4D64"/>
                </a:solidFill>
                <a:latin typeface="Cambria"/>
              </a:rPr>
              <a:t>Limitations</a:t>
            </a:r>
          </a:p>
          <a:p>
            <a:pPr marL="274320" indent="-237744" algn="l">
              <a:spcAft>
                <a:spcPts val="1600"/>
              </a:spcAft>
              <a:buClr>
                <a:srgbClr val="D9480F"/>
              </a:buClr>
              <a:buFont typeface="Arial"/>
              <a:buChar char="•"/>
            </a:pPr>
            <a:r>
              <a:rPr sz="2000" b="0" i="0">
                <a:solidFill>
                  <a:srgbClr val="1B2631"/>
                </a:solidFill>
                <a:latin typeface="Calibri"/>
              </a:rPr>
              <a:t>Single-city forecast for submission depth; global model would need hierarchy or many series</a:t>
            </a:r>
          </a:p>
          <a:p>
            <a:pPr marL="274320" indent="-237744" algn="l">
              <a:spcAft>
                <a:spcPts val="1600"/>
              </a:spcAft>
              <a:buClr>
                <a:srgbClr val="D9480F"/>
              </a:buClr>
              <a:buFont typeface="Arial"/>
              <a:buChar char="•"/>
            </a:pPr>
            <a:r>
              <a:rPr sz="2000" b="0" i="0">
                <a:solidFill>
                  <a:srgbClr val="1B2631"/>
                </a:solidFill>
                <a:latin typeface="Calibri"/>
              </a:rPr>
              <a:t>Observation-hour drift biases year-over-year baselines</a:t>
            </a:r>
          </a:p>
          <a:p>
            <a:pPr marL="274320" indent="-237744" algn="l">
              <a:spcAft>
                <a:spcPts val="1600"/>
              </a:spcAft>
              <a:buClr>
                <a:srgbClr val="D9480F"/>
              </a:buClr>
              <a:buFont typeface="Arial"/>
              <a:buChar char="•"/>
            </a:pPr>
            <a:r>
              <a:rPr sz="2000" b="0" i="0">
                <a:solidFill>
                  <a:srgbClr val="1B2631"/>
                </a:solidFill>
                <a:latin typeface="Calibri"/>
              </a:rPr>
              <a:t>Correlations ≠ causal air-quality mechanisms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600200"/>
            <a:ext cx="5364327" cy="3931920"/>
          </a:xfrm>
          <a:prstGeom prst="roundRect">
            <a:avLst>
              <a:gd name="adj" fmla="val 60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44487" y="1874519"/>
            <a:ext cx="4632807" cy="3474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600"/>
              </a:spcAft>
            </a:pPr>
            <a:r>
              <a:rPr sz="2400" b="1" i="0">
                <a:solidFill>
                  <a:srgbClr val="D9480F"/>
                </a:solidFill>
                <a:latin typeface="Cambria"/>
              </a:rPr>
              <a:t>Next steps</a:t>
            </a:r>
          </a:p>
          <a:p>
            <a:pPr marL="274320" indent="-237744" algn="l">
              <a:spcAft>
                <a:spcPts val="1600"/>
              </a:spcAft>
              <a:buClr>
                <a:srgbClr val="D9480F"/>
              </a:buClr>
              <a:buFont typeface="Arial"/>
              <a:buChar char="•"/>
            </a:pPr>
            <a:r>
              <a:rPr sz="2000" b="0" i="0">
                <a:solidFill>
                  <a:srgbClr val="1B2631"/>
                </a:solidFill>
                <a:latin typeface="Calibri"/>
              </a:rPr>
              <a:t>Calendar-aware features / proper time-series CV</a:t>
            </a:r>
          </a:p>
          <a:p>
            <a:pPr marL="274320" indent="-237744" algn="l">
              <a:spcAft>
                <a:spcPts val="1600"/>
              </a:spcAft>
              <a:buClr>
                <a:srgbClr val="D9480F"/>
              </a:buClr>
              <a:buFont typeface="Arial"/>
              <a:buChar char="•"/>
            </a:pPr>
            <a:r>
              <a:rPr sz="2000" b="0" i="0">
                <a:solidFill>
                  <a:srgbClr val="1B2631"/>
                </a:solidFill>
                <a:latin typeface="Calibri"/>
              </a:rPr>
              <a:t>Normalize country names; continent-level aggregates</a:t>
            </a:r>
          </a:p>
          <a:p>
            <a:pPr marL="274320" indent="-237744" algn="l">
              <a:spcAft>
                <a:spcPts val="1600"/>
              </a:spcAft>
              <a:buClr>
                <a:srgbClr val="D9480F"/>
              </a:buClr>
              <a:buFont typeface="Arial"/>
              <a:buChar char="•"/>
            </a:pPr>
            <a:r>
              <a:rPr sz="2000" b="0" i="0">
                <a:solidFill>
                  <a:srgbClr val="1B2631"/>
                </a:solidFill>
                <a:latin typeface="Calibri"/>
              </a:rPr>
              <a:t>Precipitation forecasting with zero-inflated models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47472"/>
            <a:ext cx="1056132" cy="292608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REPRODUCE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631"/>
                </a:solidFill>
                <a:latin typeface="Cambria"/>
              </a:rPr>
              <a:t>Repository &amp; reproduction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7145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  <a:latin typeface="Calibri"/>
              </a:rPr>
              <a:t>13 /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11094415" cy="86868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2103120" cy="8686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E4D64"/>
                </a:solidFill>
                <a:latin typeface="Calibri"/>
              </a:rPr>
              <a:t>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645920"/>
            <a:ext cx="8351215" cy="8686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spcAft>
                <a:spcPts val="600"/>
              </a:spcAft>
            </a:pPr>
            <a:r>
              <a:rPr lang="en-US" dirty="0" err="1">
                <a:hlinkClick r:id="rId2"/>
              </a:rPr>
              <a:t>ArepaMan</a:t>
            </a:r>
            <a:r>
              <a:rPr lang="en-US" dirty="0">
                <a:hlinkClick r:id="rId2"/>
              </a:rPr>
              <a:t>/weather-trend-forecasting: Public Repo for Data Scientist application project to PM Accelerator</a:t>
            </a:r>
            <a:endParaRPr sz="1800" b="0" i="0" dirty="0">
              <a:solidFill>
                <a:srgbClr val="0E4D64"/>
              </a:solidFill>
              <a:latin typeface="Consola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8640" y="2743200"/>
            <a:ext cx="11094415" cy="86868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2103120" cy="8686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E4D64"/>
                </a:solidFill>
                <a:latin typeface="Calibri"/>
              </a:rPr>
              <a:t>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743200"/>
            <a:ext cx="8351215" cy="8686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</a:pPr>
            <a:r>
              <a:rPr sz="1800" b="0" i="0" dirty="0">
                <a:solidFill>
                  <a:srgbClr val="0E4D64"/>
                </a:solidFill>
                <a:latin typeface="Consolas"/>
              </a:rPr>
              <a:t>pip install -r requirements.txt</a:t>
            </a:r>
            <a:r>
              <a:rPr sz="1800" b="0" i="0" dirty="0">
                <a:solidFill>
                  <a:srgbClr val="1B2631"/>
                </a:solidFill>
                <a:latin typeface="Calibri"/>
              </a:rPr>
              <a:t> → Jupyter notebooks </a:t>
            </a:r>
            <a:r>
              <a:rPr sz="1800" b="0" i="0" dirty="0">
                <a:solidFill>
                  <a:srgbClr val="0E4D64"/>
                </a:solidFill>
                <a:latin typeface="Consolas"/>
              </a:rPr>
              <a:t>01</a:t>
            </a:r>
            <a:r>
              <a:rPr sz="1800" b="0" i="0" dirty="0">
                <a:solidFill>
                  <a:srgbClr val="1B2631"/>
                </a:solidFill>
                <a:latin typeface="Calibri"/>
              </a:rPr>
              <a:t> → </a:t>
            </a:r>
            <a:r>
              <a:rPr sz="1800" b="0" i="0" dirty="0">
                <a:solidFill>
                  <a:srgbClr val="0E4D64"/>
                </a:solidFill>
                <a:latin typeface="Consolas"/>
              </a:rPr>
              <a:t>02</a:t>
            </a:r>
            <a:r>
              <a:rPr sz="1800" b="0" i="0" dirty="0">
                <a:solidFill>
                  <a:srgbClr val="1B2631"/>
                </a:solidFill>
                <a:latin typeface="Calibri"/>
              </a:rPr>
              <a:t> → </a:t>
            </a:r>
            <a:r>
              <a:rPr sz="1800" b="0" i="0" dirty="0">
                <a:solidFill>
                  <a:srgbClr val="0E4D64"/>
                </a:solidFill>
                <a:latin typeface="Consolas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40480"/>
            <a:ext cx="11094415" cy="86868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3840480"/>
            <a:ext cx="2103120" cy="8686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E4D64"/>
                </a:solidFill>
                <a:latin typeface="Calibri"/>
              </a:rPr>
              <a:t>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840480"/>
            <a:ext cx="8351215" cy="8686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B2631"/>
                </a:solidFill>
                <a:latin typeface="Calibri"/>
              </a:rPr>
              <a:t>Download Kaggle CSV to </a:t>
            </a:r>
            <a:r>
              <a:rPr sz="1800" b="0" i="0">
                <a:solidFill>
                  <a:srgbClr val="0E4D64"/>
                </a:solidFill>
                <a:latin typeface="Consolas"/>
              </a:rPr>
              <a:t>data/raw/GlobalWeatherRepository.csv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37759"/>
            <a:ext cx="11094415" cy="86868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4937759"/>
            <a:ext cx="2103120" cy="8686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E4D64"/>
                </a:solidFill>
                <a:latin typeface="Calibri"/>
              </a:rPr>
              <a:t>Demo video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4937759"/>
            <a:ext cx="8351215" cy="8686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solidFill>
                  <a:srgbClr val="0E4D64"/>
                </a:solidFill>
                <a:latin typeface="Consolas"/>
              </a:rPr>
              <a:t>https://youtu.be/1ZwhvgLowmE</a:t>
            </a:r>
            <a:endParaRPr sz="1800" b="0" i="0" dirty="0">
              <a:solidFill>
                <a:srgbClr val="0E4D64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548640"/>
            <a:ext cx="11094415" cy="5760720"/>
          </a:xfrm>
          <a:prstGeom prst="roundRect">
            <a:avLst>
              <a:gd name="adj" fmla="val 4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88720" y="1554480"/>
            <a:ext cx="960120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1B2631"/>
                </a:solidFill>
                <a:latin typeface="Cambria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D9480F"/>
                </a:solidFill>
                <a:latin typeface="Cambria"/>
              </a:rPr>
              <a:t>Questions?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3977639"/>
            <a:ext cx="731520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5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463040" y="3977639"/>
            <a:ext cx="68580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spcAft>
                <a:spcPts val="600"/>
              </a:spcAft>
            </a:pPr>
            <a:r>
              <a:rPr lang="en-US" dirty="0" err="1">
                <a:solidFill>
                  <a:srgbClr val="1B2631"/>
                </a:solidFill>
              </a:rPr>
              <a:t>manuel@manuelvargas.dev</a:t>
            </a:r>
            <a:r>
              <a:rPr sz="1800" b="0" i="0" dirty="0">
                <a:solidFill>
                  <a:srgbClr val="1B2631"/>
                </a:solidFill>
                <a:latin typeface="Calibri"/>
              </a:rPr>
              <a:t> · </a:t>
            </a:r>
            <a:r>
              <a:rPr lang="en-US" dirty="0">
                <a:solidFill>
                  <a:srgbClr val="1B2631"/>
                </a:solidFill>
              </a:rPr>
              <a:t>https://github.com/ArepaMan</a:t>
            </a:r>
            <a:r>
              <a:rPr sz="1800" b="0" i="0" dirty="0">
                <a:solidFill>
                  <a:srgbClr val="1B2631"/>
                </a:solidFill>
                <a:latin typeface="Calibri"/>
              </a:rPr>
              <a:t> · </a:t>
            </a:r>
            <a:r>
              <a:rPr lang="en-US" dirty="0">
                <a:hlinkClick r:id="rId2"/>
              </a:rPr>
              <a:t>Manuel Vargas Alvarez | LinkedIn</a:t>
            </a:r>
            <a:r>
              <a:rPr sz="1800" b="0" i="0" dirty="0">
                <a:solidFill>
                  <a:srgbClr val="1B2631"/>
                </a:solidFill>
                <a:latin typeface="Calibri"/>
              </a:rPr>
              <a:t> </a:t>
            </a:r>
            <a:endParaRPr sz="1800" b="0" i="1" dirty="0">
              <a:solidFill>
                <a:srgbClr val="5D6D7E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88720" y="5120640"/>
            <a:ext cx="96012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D6D7E"/>
                </a:solidFill>
                <a:latin typeface="Calibri"/>
              </a:rPr>
              <a:t>Manuel Vargas Alvarez · PM Accelerator — Data Scientist technical assessment (Advanced track)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D6D7E"/>
                </a:solidFill>
                <a:latin typeface="Calibr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1131</Words>
  <Application>Microsoft Office PowerPoint</Application>
  <PresentationFormat>Widescreen</PresentationFormat>
  <Paragraphs>166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Vargas Alvarez, Manuel Jose</cp:lastModifiedBy>
  <cp:revision>5</cp:revision>
  <dcterms:created xsi:type="dcterms:W3CDTF">2013-01-27T09:14:16Z</dcterms:created>
  <dcterms:modified xsi:type="dcterms:W3CDTF">2026-10-01T16:15:13Z</dcterms:modified>
  <cp:category/>
</cp:coreProperties>
</file>