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elgiriyewithana/global-weather-repository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maccelerator.io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epaMan/weather-trend-forecasting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manuel-v-01091999/?isSelfProfile=tru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35240" y="548640"/>
            <a:ext cx="4005072" cy="576072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490472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ADVANCED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76656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B2631"/>
                </a:solidFill>
                <a:latin typeface="Cambria"/>
              </a:rPr>
              <a:t>Weather Trend Forecasting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E4D64"/>
                </a:solidFill>
                <a:latin typeface="Cambria"/>
              </a:rPr>
              <a:t>— Global Weather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67665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B2631"/>
                </a:solidFill>
                <a:latin typeface="Calibri"/>
              </a:rPr>
              <a:t>Manuel Vargas Alvarez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631"/>
                </a:solidFill>
                <a:latin typeface="Calibri"/>
              </a:rPr>
              <a:t>PM Accelerator — Data Scientist technical assessment (Advanced track)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E4D64"/>
                </a:solidFill>
                <a:latin typeface="Calibri"/>
                <a:hlinkClick r:id="rId2"/>
              </a:rPr>
              <a:t>Dataset: Global Weather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05156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E4D64"/>
                </a:solidFill>
                <a:latin typeface="Cambria"/>
              </a:rPr>
              <a:t>167,812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801367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D6D7E"/>
                </a:solidFill>
                <a:latin typeface="Calibri"/>
              </a:rPr>
              <a:t>rows after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74320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E4D64"/>
                </a:solidFill>
                <a:latin typeface="Cambria"/>
              </a:rPr>
              <a:t>268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49300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D6D7E"/>
                </a:solidFill>
                <a:latin typeface="Calibri"/>
              </a:rPr>
              <a:t>cities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43484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D9480F"/>
                </a:solidFill>
                <a:latin typeface="Cambria"/>
              </a:rPr>
              <a:t>~2.5°C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518464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D6D7E"/>
                </a:solidFill>
                <a:latin typeface="Calibri"/>
              </a:rPr>
              <a:t>day-ahead MAE (Kyiv)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PM Accelerator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4415" cy="274320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8000" b="0" i="0">
                <a:solidFill>
                  <a:srgbClr val="D9480F"/>
                </a:solidFill>
                <a:latin typeface="Cambr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6596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1B2631"/>
                </a:solidFill>
                <a:latin typeface="Cambria"/>
              </a:rPr>
              <a:t>“We are committed to offering free Product Management education to teenagers from underserved families. Our mission is to break down financial barriers and achieve educational fairness… empower more kids for a better future… fostering a diverse landscape in the tech industry.”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70332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E4D64"/>
                </a:solidFill>
                <a:latin typeface="Calibri"/>
              </a:rPr>
              <a:t>— </a:t>
            </a:r>
            <a:r>
              <a:rPr sz="1600" b="1" i="0">
                <a:solidFill>
                  <a:srgbClr val="0E4D64"/>
                </a:solidFill>
                <a:latin typeface="Calibri"/>
              </a:rPr>
              <a:t>PMA KIDS</a:t>
            </a:r>
            <a:r>
              <a:rPr sz="1600" b="0" i="0">
                <a:solidFill>
                  <a:srgbClr val="0E4D64"/>
                </a:solidFill>
                <a:latin typeface="Calibri"/>
              </a:rPr>
              <a:t>, </a:t>
            </a:r>
            <a:r>
              <a:rPr sz="1600" b="0" i="0">
                <a:solidFill>
                  <a:srgbClr val="0E4D64"/>
                </a:solidFill>
                <a:latin typeface="Calibri"/>
                <a:hlinkClick r:id="rId2"/>
              </a:rPr>
              <a:t>pmaccelerator.io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631"/>
                </a:solidFill>
                <a:latin typeface="Calibri"/>
              </a:rPr>
              <a:t>Product Manager Accelerator</a:t>
            </a:r>
            <a:r>
              <a:rPr sz="1800" b="0" i="0">
                <a:solidFill>
                  <a:srgbClr val="1B2631"/>
                </a:solidFill>
                <a:latin typeface="Calibri"/>
              </a:rPr>
              <a:t> also serves a global community of aspiring and current product managers with training and career programs in product and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Objective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2631"/>
                </a:solidFill>
                <a:latin typeface="Calibri"/>
              </a:rPr>
              <a:t>Goal:</a:t>
            </a:r>
            <a:r>
              <a:rPr sz="1900" b="0" i="0">
                <a:solidFill>
                  <a:srgbClr val="1B2631"/>
                </a:solidFill>
                <a:latin typeface="Calibri"/>
              </a:rPr>
              <a:t> Forecast weather trends and demonstrate end-to-end data science on a real-world weather panel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4D64"/>
                </a:solidFill>
                <a:latin typeface="Calibri"/>
              </a:rPr>
              <a:t>Advanced track delivered: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2036003" cy="2011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1578803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B2631"/>
                </a:solidFill>
                <a:latin typeface="Calibri"/>
              </a:rPr>
              <a:t>Cleaning &amp; EDA (temperature, precipitation)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3243" y="2880360"/>
            <a:ext cx="2036003" cy="2011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41843" y="3108960"/>
            <a:ext cx="502920" cy="5029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1843" y="3749039"/>
            <a:ext cx="1578803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B2631"/>
                </a:solidFill>
                <a:latin typeface="Calibri"/>
              </a:rPr>
              <a:t>Anomaly / outlier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7846" y="2880360"/>
            <a:ext cx="2036003" cy="2011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306446" y="3108960"/>
            <a:ext cx="502920" cy="5029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6446" y="3749039"/>
            <a:ext cx="1578803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B2631"/>
                </a:solidFill>
                <a:latin typeface="Calibri"/>
              </a:rPr>
              <a:t>Multiple forecasting models + ensemble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449" y="2880360"/>
            <a:ext cx="2036003" cy="2011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71049" y="3108960"/>
            <a:ext cx="502920" cy="5029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049" y="3749039"/>
            <a:ext cx="1578803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B2631"/>
                </a:solidFill>
                <a:latin typeface="Calibri"/>
              </a:rPr>
              <a:t>Feature importance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7052" y="2880360"/>
            <a:ext cx="2036003" cy="2011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35652" y="3108960"/>
            <a:ext cx="502920" cy="5029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5652" y="3749039"/>
            <a:ext cx="1578803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B2631"/>
                </a:solidFill>
                <a:latin typeface="Calibri"/>
              </a:rPr>
              <a:t>Environmental (air quality) &amp; geographical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094415" cy="685800"/>
          </a:xfrm>
          <a:prstGeom prst="roundRect">
            <a:avLst>
              <a:gd name="adj" fmla="val 6000"/>
            </a:avLst>
          </a:prstGeom>
          <a:solidFill>
            <a:srgbClr val="E3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5303520"/>
            <a:ext cx="10545775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631"/>
                </a:solidFill>
                <a:latin typeface="Calibri"/>
              </a:rPr>
              <a:t>Primary series:</a:t>
            </a:r>
            <a:r>
              <a:rPr sz="1800" b="0" i="0">
                <a:solidFill>
                  <a:srgbClr val="1B2631"/>
                </a:solidFill>
                <a:latin typeface="Calibri"/>
              </a:rPr>
              <a:t> Kyiv · target </a:t>
            </a:r>
            <a:r>
              <a:rPr sz="1800" b="0" i="0">
                <a:solidFill>
                  <a:srgbClr val="0E4D64"/>
                </a:solidFill>
                <a:latin typeface="Consolas"/>
              </a:rPr>
              <a:t>temperature_celsius</a:t>
            </a:r>
            <a:r>
              <a:rPr sz="1800" b="0" i="0">
                <a:solidFill>
                  <a:srgbClr val="1B2631"/>
                </a:solidFill>
                <a:latin typeface="Calibri"/>
              </a:rPr>
              <a:t> · time index </a:t>
            </a:r>
            <a:r>
              <a:rPr sz="1800" b="0" i="0">
                <a:solidFill>
                  <a:srgbClr val="0E4D64"/>
                </a:solidFill>
                <a:latin typeface="Consolas"/>
              </a:rPr>
              <a:t>last_updated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39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E4D64"/>
                </a:solidFill>
                <a:latin typeface="Cambria"/>
              </a:rPr>
              <a:t>167,812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D6D7E"/>
                </a:solidFill>
                <a:latin typeface="Calibri"/>
              </a:rPr>
              <a:t>rows after cleaning (167,813 raw)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554480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691639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E4D64"/>
                </a:solidFill>
                <a:latin typeface="Cambria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860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D6D7E"/>
                </a:solidFill>
                <a:latin typeface="Calibri"/>
              </a:rPr>
              <a:t>columns (features)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39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200399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E4D64"/>
                </a:solidFill>
                <a:latin typeface="Cambria"/>
              </a:rPr>
              <a:t>268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59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D6D7E"/>
                </a:solidFill>
                <a:latin typeface="Calibri"/>
              </a:rPr>
              <a:t>locations (cities)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3063239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3200399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E4D64"/>
                </a:solidFill>
                <a:latin typeface="Cambria"/>
              </a:rPr>
              <a:t>~863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94759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D6D7E"/>
                </a:solidFill>
                <a:latin typeface="Calibri"/>
              </a:rPr>
              <a:t>daily-ish observations per city (panel)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2631"/>
                </a:solidFill>
                <a:latin typeface="Calibri"/>
              </a:rPr>
              <a:t>Cleaning: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Parsed </a:t>
            </a:r>
            <a:r>
              <a:rPr sz="1300" b="0" i="0">
                <a:solidFill>
                  <a:srgbClr val="0E4D64"/>
                </a:solidFill>
                <a:latin typeface="Consolas"/>
              </a:rPr>
              <a:t>last_updated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to datetime (0 failures); no imputation;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no min–max/z-score scaling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(values kept in °C; outliers analyzed in notebook 03); removed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1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duplicate </a:t>
            </a:r>
            <a:r>
              <a:rPr sz="1300" b="0" i="0">
                <a:solidFill>
                  <a:srgbClr val="0E4D64"/>
                </a:solidFill>
                <a:latin typeface="Consolas"/>
              </a:rPr>
              <a:t>(location_name, last_updated)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(Nan, Thailand).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1554480"/>
            <a:ext cx="6339535" cy="4800600"/>
          </a:xfrm>
          <a:prstGeom prst="roundRect">
            <a:avLst>
              <a:gd name="adj" fmla="val 6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0" y="1737360"/>
            <a:ext cx="5790895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D9480F"/>
                </a:solidFill>
                <a:latin typeface="Calibri"/>
              </a:rPr>
              <a:t>Data caveats (read before models):</a:t>
            </a:r>
          </a:p>
          <a:p>
            <a:pPr marL="274320" indent="-237744" algn="l">
              <a:spcAft>
                <a:spcPts val="1400"/>
              </a:spcAft>
              <a:buClr>
                <a:srgbClr val="D9480F"/>
              </a:buClr>
              <a:buFont typeface="Arial"/>
              <a:buChar char="•"/>
            </a:pPr>
            <a:r>
              <a:rPr sz="1600" b="1" i="0">
                <a:solidFill>
                  <a:srgbClr val="1B2631"/>
                </a:solidFill>
                <a:latin typeface="Calibri"/>
              </a:rPr>
              <a:t>Day-ahead evaluation: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each holdout step is a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one-step-ahead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forecast (yesterday → today), not multi-day open-loop.</a:t>
            </a:r>
          </a:p>
          <a:p>
            <a:pPr marL="274320" indent="-237744" algn="l">
              <a:spcAft>
                <a:spcPts val="1400"/>
              </a:spcAft>
              <a:buClr>
                <a:srgbClr val="D9480F"/>
              </a:buClr>
              <a:buFont typeface="Arial"/>
              <a:buChar char="•"/>
            </a:pPr>
            <a:r>
              <a:rPr sz="1600" b="1" i="0">
                <a:solidFill>
                  <a:srgbClr val="1B2631"/>
                </a:solidFill>
                <a:latin typeface="Calibri"/>
              </a:rPr>
              <a:t>Observation-time drift: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rows are ~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24 h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apart (mean gap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24 h 03 m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on Kyiv); Kyiv’s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observation hour drifted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from afternoon (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≈15–17 h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, 2024) to morning (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≈9 h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, 2026)—morning readings run colder, which partly affects year-over-year comparisons.</a:t>
            </a:r>
          </a:p>
          <a:p>
            <a:pPr marL="274320" indent="-237744" algn="l">
              <a:spcAft>
                <a:spcPts val="1400"/>
              </a:spcAft>
              <a:buClr>
                <a:srgbClr val="D9480F"/>
              </a:buClr>
              <a:buFont typeface="Arial"/>
              <a:buChar char="•"/>
            </a:pPr>
            <a:r>
              <a:rPr sz="1600" b="1" i="0">
                <a:solidFill>
                  <a:srgbClr val="1B2631"/>
                </a:solidFill>
                <a:latin typeface="Calibri"/>
              </a:rPr>
              <a:t>Snapshot quirk: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Kyiv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2026-08-17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shows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1.1°C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at 09:00 (feels-like −4.3) between days at 21–24°C—likely a scrape error;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falls in the forecast test window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and inflates naive RMSE (≈3.75 → ≈2.97 without that day).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534924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EDA — Kyiv time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37744" algn="l">
              <a:spcAft>
                <a:spcPts val="600"/>
              </a:spcAft>
              <a:buClr>
                <a:srgbClr val="D9480F"/>
              </a:buClr>
              <a:buFont typeface="Arial"/>
              <a:buChar char="•"/>
            </a:pPr>
            <a:r>
              <a:rPr sz="1700" b="1" i="0">
                <a:solidFill>
                  <a:srgbClr val="1B2631"/>
                </a:solidFill>
                <a:latin typeface="Calibri"/>
              </a:rPr>
              <a:t>863</a:t>
            </a:r>
            <a:r>
              <a:rPr sz="1700" b="0" i="0">
                <a:solidFill>
                  <a:srgbClr val="1B2631"/>
                </a:solidFill>
                <a:latin typeface="Calibri"/>
              </a:rPr>
              <a:t> points · </a:t>
            </a:r>
            <a:r>
              <a:rPr sz="1700" b="1" i="0">
                <a:solidFill>
                  <a:srgbClr val="1B2631"/>
                </a:solidFill>
                <a:latin typeface="Calibri"/>
              </a:rPr>
              <a:t>2024-05-16</a:t>
            </a:r>
            <a:r>
              <a:rPr sz="1700" b="0" i="0">
                <a:solidFill>
                  <a:srgbClr val="1B2631"/>
                </a:solidFill>
                <a:latin typeface="Calibri"/>
              </a:rPr>
              <a:t> → </a:t>
            </a:r>
            <a:r>
              <a:rPr sz="1700" b="1" i="0">
                <a:solidFill>
                  <a:srgbClr val="1B2631"/>
                </a:solidFill>
                <a:latin typeface="Calibri"/>
              </a:rPr>
              <a:t>2026-09-27</a:t>
            </a:r>
          </a:p>
          <a:p>
            <a:pPr marL="274320" indent="-237744" algn="l">
              <a:spcAft>
                <a:spcPts val="600"/>
              </a:spcAft>
              <a:buClr>
                <a:srgbClr val="D9480F"/>
              </a:buClr>
              <a:buFont typeface="Arial"/>
              <a:buChar char="•"/>
            </a:pPr>
            <a:r>
              <a:rPr sz="1700" b="0" i="0">
                <a:solidFill>
                  <a:srgbClr val="1B2631"/>
                </a:solidFill>
                <a:latin typeface="Calibri"/>
              </a:rPr>
              <a:t>Median spacing ≈ </a:t>
            </a:r>
            <a:r>
              <a:rPr sz="1700" b="1" i="0">
                <a:solidFill>
                  <a:srgbClr val="1B2631"/>
                </a:solidFill>
                <a:latin typeface="Calibri"/>
              </a:rPr>
              <a:t>24 h</a:t>
            </a:r>
            <a:r>
              <a:rPr sz="1700" b="0" i="0">
                <a:solidFill>
                  <a:srgbClr val="1B2631"/>
                </a:solidFill>
                <a:latin typeface="Calibri"/>
              </a:rPr>
              <a:t> (some gaps 5 h – 3 days)</a:t>
            </a:r>
          </a:p>
          <a:p>
            <a:pPr marL="274320" indent="-237744" algn="l">
              <a:spcAft>
                <a:spcPts val="600"/>
              </a:spcAft>
              <a:buClr>
                <a:srgbClr val="D9480F"/>
              </a:buClr>
              <a:buFont typeface="Arial"/>
              <a:buChar char="•"/>
            </a:pPr>
            <a:r>
              <a:rPr sz="1700" b="0" i="0">
                <a:solidFill>
                  <a:srgbClr val="1B2631"/>
                </a:solidFill>
                <a:latin typeface="Calibri"/>
              </a:rPr>
              <a:t>Temperature: strong </a:t>
            </a:r>
            <a:r>
              <a:rPr sz="1700" b="1" i="0">
                <a:solidFill>
                  <a:srgbClr val="1B2631"/>
                </a:solidFill>
                <a:latin typeface="Calibri"/>
              </a:rPr>
              <a:t>seasonality</a:t>
            </a:r>
            <a:r>
              <a:rPr sz="1700" b="0" i="0">
                <a:solidFill>
                  <a:srgbClr val="1B2631"/>
                </a:solidFill>
                <a:latin typeface="Calibri"/>
              </a:rPr>
              <a:t> (~−21°C to ~37°C in sample)</a:t>
            </a:r>
          </a:p>
          <a:p>
            <a:pPr marL="274320" indent="-237744" algn="l">
              <a:spcAft>
                <a:spcPts val="600"/>
              </a:spcAft>
              <a:buClr>
                <a:srgbClr val="D9480F"/>
              </a:buClr>
              <a:buFont typeface="Arial"/>
              <a:buChar char="•"/>
            </a:pPr>
            <a:r>
              <a:rPr sz="1700" b="0" i="0">
                <a:solidFill>
                  <a:srgbClr val="1B2631"/>
                </a:solidFill>
                <a:latin typeface="Calibri"/>
              </a:rPr>
              <a:t>Precipitation: mostly dry, </a:t>
            </a:r>
            <a:r>
              <a:rPr sz="1700" b="1" i="0">
                <a:solidFill>
                  <a:srgbClr val="1B2631"/>
                </a:solidFill>
                <a:latin typeface="Calibri"/>
              </a:rPr>
              <a:t>spiky</a:t>
            </a:r>
            <a:r>
              <a:rPr sz="1700" b="0" i="0">
                <a:solidFill>
                  <a:srgbClr val="1B2631"/>
                </a:solidFill>
                <a:latin typeface="Calibri"/>
              </a:rPr>
              <a:t> events (</a:t>
            </a:r>
            <a:r>
              <a:rPr sz="1700" b="0" i="0">
                <a:solidFill>
                  <a:srgbClr val="0E4D64"/>
                </a:solidFill>
                <a:latin typeface="Consolas"/>
              </a:rPr>
              <a:t>precip_mm</a:t>
            </a:r>
            <a:r>
              <a:rPr sz="1700" b="0" i="0">
                <a:solidFill>
                  <a:srgbClr val="1B2631"/>
                </a:solidFill>
                <a:latin typeface="Calibri"/>
              </a:rPr>
              <a:t> = reading at observation time, </a:t>
            </a:r>
            <a:r>
              <a:rPr sz="1700" b="1" i="0">
                <a:solidFill>
                  <a:srgbClr val="1B2631"/>
                </a:solidFill>
                <a:latin typeface="Calibri"/>
              </a:rPr>
              <a:t>not</a:t>
            </a:r>
            <a:r>
              <a:rPr sz="1700" b="0" i="0">
                <a:solidFill>
                  <a:srgbClr val="1B2631"/>
                </a:solidFill>
                <a:latin typeface="Calibri"/>
              </a:rPr>
              <a:t> a daily total — </a:t>
            </a:r>
            <a:r>
              <a:rPr sz="1700" b="1" i="0">
                <a:solidFill>
                  <a:srgbClr val="1B2631"/>
                </a:solidFill>
                <a:latin typeface="Calibri"/>
              </a:rPr>
              <a:t>EDA only</a:t>
            </a:r>
            <a:r>
              <a:rPr sz="1700" b="0" i="0">
                <a:solidFill>
                  <a:srgbClr val="1B2631"/>
                </a:solidFill>
                <a:latin typeface="Calibri"/>
              </a:rPr>
              <a:t>, not forecast)</a:t>
            </a:r>
          </a:p>
        </p:txBody>
      </p:sp>
      <p:pic>
        <p:nvPicPr>
          <p:cNvPr id="6" name="Picture 5" descr="kyiv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88362"/>
            <a:ext cx="5410047" cy="2224475"/>
          </a:xfrm>
          <a:prstGeom prst="rect">
            <a:avLst/>
          </a:prstGeom>
          <a:ln w="9525">
            <a:solidFill>
              <a:srgbClr val="D5DDE2"/>
            </a:solidFill>
          </a:ln>
        </p:spPr>
      </p:pic>
      <p:pic>
        <p:nvPicPr>
          <p:cNvPr id="7" name="Picture 6" descr="kyiv_precipi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689953"/>
            <a:ext cx="5410047" cy="2221292"/>
          </a:xfrm>
          <a:prstGeom prst="rect">
            <a:avLst/>
          </a:prstGeom>
          <a:ln w="9525">
            <a:solidFill>
              <a:srgbClr val="D5DDE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795528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Forecasting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37744" algn="l">
              <a:spcAft>
                <a:spcPts val="600"/>
              </a:spcAft>
              <a:buClr>
                <a:srgbClr val="D9480F"/>
              </a:buClr>
              <a:buFont typeface="Arial"/>
              <a:buChar char="•"/>
            </a:pPr>
            <a:r>
              <a:rPr sz="1900" b="1" i="0">
                <a:solidFill>
                  <a:srgbClr val="1B2631"/>
                </a:solidFill>
                <a:latin typeface="Calibri"/>
              </a:rPr>
              <a:t>80% / 20% chronological split</a:t>
            </a:r>
            <a:r>
              <a:rPr sz="1900" b="0" i="0">
                <a:solidFill>
                  <a:srgbClr val="1B2631"/>
                </a:solidFill>
                <a:latin typeface="Calibri"/>
              </a:rPr>
              <a:t> (no shuffle — avoids leakage)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4D64"/>
                </a:solidFill>
                <a:latin typeface="Calibri"/>
              </a:rPr>
              <a:t>Models compared on holdout: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2602153" cy="233172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2144953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631"/>
                </a:solidFill>
                <a:latin typeface="Calibri"/>
              </a:rPr>
              <a:t>Naive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D6D7E"/>
                </a:solidFill>
                <a:latin typeface="Calibri"/>
              </a:rPr>
              <a:t>(persistence)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393" y="2697480"/>
            <a:ext cx="2602153" cy="233172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07993" y="2926080"/>
            <a:ext cx="502920" cy="50292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993" y="3611880"/>
            <a:ext cx="2144953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631"/>
                </a:solidFill>
                <a:latin typeface="Calibri"/>
              </a:rPr>
              <a:t>Seasonal naive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D6D7E"/>
                </a:solidFill>
                <a:latin typeface="Calibri"/>
              </a:rPr>
              <a:t>(365-row lag)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2697480"/>
            <a:ext cx="2602153" cy="233172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8747" y="2926080"/>
            <a:ext cx="502920" cy="50292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3611880"/>
            <a:ext cx="2144953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631"/>
                </a:solidFill>
                <a:latin typeface="Calibri"/>
              </a:rPr>
              <a:t>Ridge regression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D6D7E"/>
                </a:solidFill>
                <a:latin typeface="Calibri"/>
              </a:rPr>
              <a:t>on lags [1, 2, 3, 7, 14, 28]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0901" y="2697480"/>
            <a:ext cx="2602153" cy="2331720"/>
          </a:xfrm>
          <a:prstGeom prst="roundRect">
            <a:avLst>
              <a:gd name="adj" fmla="val 6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69501" y="2926080"/>
            <a:ext cx="502920" cy="50292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9501" y="3611880"/>
            <a:ext cx="2144953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631"/>
                </a:solidFill>
                <a:latin typeface="Calibri"/>
              </a:rPr>
              <a:t>Ensemble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D6D7E"/>
                </a:solidFill>
                <a:latin typeface="Calibri"/>
              </a:rPr>
              <a:t>= unweighted mean of </a:t>
            </a:r>
            <a:r>
              <a:rPr sz="1500" b="1" i="0">
                <a:solidFill>
                  <a:srgbClr val="5D6D7E"/>
                </a:solidFill>
                <a:latin typeface="Calibri"/>
              </a:rPr>
              <a:t>Ridge + naive</a:t>
            </a:r>
            <a:r>
              <a:rPr sz="1500" b="0" i="0">
                <a:solidFill>
                  <a:srgbClr val="5D6D7E"/>
                </a:solidFill>
                <a:latin typeface="Calibri"/>
              </a:rPr>
              <a:t> (the two lowest holdout MAE models)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94415" cy="640080"/>
          </a:xfrm>
          <a:prstGeom prst="roundRect">
            <a:avLst>
              <a:gd name="adj" fmla="val 6000"/>
            </a:avLst>
          </a:prstGeom>
          <a:solidFill>
            <a:srgbClr val="E3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3492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631"/>
                </a:solidFill>
                <a:latin typeface="Calibri"/>
              </a:rPr>
              <a:t>Metrics: </a:t>
            </a:r>
            <a:r>
              <a:rPr sz="1800" b="1" i="0">
                <a:solidFill>
                  <a:srgbClr val="1B2631"/>
                </a:solidFill>
                <a:latin typeface="Calibri"/>
              </a:rPr>
              <a:t>MAE</a:t>
            </a:r>
            <a:r>
              <a:rPr sz="1800" b="0" i="0">
                <a:solidFill>
                  <a:srgbClr val="1B2631"/>
                </a:solidFill>
                <a:latin typeface="Calibri"/>
              </a:rPr>
              <a:t> and </a:t>
            </a:r>
            <a:r>
              <a:rPr sz="1800" b="1" i="0">
                <a:solidFill>
                  <a:srgbClr val="1B2631"/>
                </a:solidFill>
                <a:latin typeface="Calibri"/>
              </a:rPr>
              <a:t>RMSE</a:t>
            </a:r>
            <a:r>
              <a:rPr sz="1800" b="0" i="0">
                <a:solidFill>
                  <a:srgbClr val="1B2631"/>
                </a:solidFill>
                <a:latin typeface="Calibri"/>
              </a:rPr>
              <a:t> (°C)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Forecasting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7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52120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37160" marR="137160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MAE (°C)</a:t>
                      </a:r>
                    </a:p>
                  </a:txBody>
                  <a:tcPr marL="137160" marR="137160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RMSE (°C)</a:t>
                      </a:r>
                    </a:p>
                  </a:txBody>
                  <a:tcPr marL="137160" marR="137160" anchor="ctr"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 marL="137160" marR="13716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2.509</a:t>
                      </a:r>
                    </a:p>
                  </a:txBody>
                  <a:tcPr marL="137160" marR="137160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3.753</a:t>
                      </a:r>
                    </a:p>
                  </a:txBody>
                  <a:tcPr marL="137160" marR="137160" anchor="ctr">
                    <a:solidFill>
                      <a:srgbClr val="EE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Seasonal naive (365)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5.993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7.528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B2631"/>
                          </a:solidFill>
                          <a:latin typeface="Calibri"/>
                        </a:rPr>
                        <a:t>Ridge (lags)</a:t>
                      </a:r>
                    </a:p>
                  </a:txBody>
                  <a:tcPr marL="137160" marR="137160" anchor="ctr">
                    <a:solidFill>
                      <a:srgbClr val="FCEB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B2631"/>
                          </a:solidFill>
                          <a:latin typeface="Calibri"/>
                        </a:rPr>
                        <a:t>2.474</a:t>
                      </a:r>
                    </a:p>
                  </a:txBody>
                  <a:tcPr marL="137160" marR="137160" anchor="ctr">
                    <a:solidFill>
                      <a:srgbClr val="FCEB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B2631"/>
                          </a:solidFill>
                          <a:latin typeface="Calibri"/>
                        </a:rPr>
                        <a:t>3.599</a:t>
                      </a:r>
                    </a:p>
                  </a:txBody>
                  <a:tcPr marL="137160" marR="137160" anchor="ctr">
                    <a:solidFill>
                      <a:srgbClr val="FC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2.474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B2631"/>
                          </a:solidFill>
                          <a:latin typeface="Calibri"/>
                        </a:rPr>
                        <a:t>3.653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5212080" cy="2468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4D64"/>
                </a:solidFill>
                <a:latin typeface="Calibri"/>
              </a:rPr>
              <a:t>Takeaways:</a:t>
            </a:r>
          </a:p>
          <a:p>
            <a:pPr marL="274320" indent="-237744" algn="l">
              <a:spcAft>
                <a:spcPts val="600"/>
              </a:spcAft>
              <a:buClr>
                <a:srgbClr val="D9480F"/>
              </a:buClr>
              <a:buFont typeface="Arial"/>
              <a:buChar char="•"/>
            </a:pPr>
            <a:r>
              <a:rPr sz="1400" b="0" i="0">
                <a:solidFill>
                  <a:srgbClr val="1B2631"/>
                </a:solidFill>
                <a:latin typeface="Calibri"/>
              </a:rPr>
              <a:t>Ridge best on RMSE (</a:t>
            </a:r>
            <a:r>
              <a:rPr sz="1400" b="1" i="0">
                <a:solidFill>
                  <a:srgbClr val="1B2631"/>
                </a:solidFill>
                <a:latin typeface="Calibri"/>
              </a:rPr>
              <a:t>3.599°C</a:t>
            </a:r>
            <a:r>
              <a:rPr sz="1400" b="0" i="0">
                <a:solidFill>
                  <a:srgbClr val="1B2631"/>
                </a:solidFill>
                <a:latin typeface="Calibri"/>
              </a:rPr>
              <a:t>); naive close.</a:t>
            </a:r>
          </a:p>
          <a:p>
            <a:pPr marL="274320" indent="-237744" algn="l">
              <a:spcAft>
                <a:spcPts val="600"/>
              </a:spcAft>
              <a:buClr>
                <a:srgbClr val="D9480F"/>
              </a:buClr>
              <a:buFont typeface="Arial"/>
              <a:buChar char="•"/>
            </a:pPr>
            <a:r>
              <a:rPr sz="1400" b="1" i="0">
                <a:solidFill>
                  <a:srgbClr val="1B2631"/>
                </a:solidFill>
                <a:latin typeface="Calibri"/>
              </a:rPr>
              <a:t>Seasonal naive loses:</a:t>
            </a:r>
            <a:r>
              <a:rPr sz="1400" b="0" i="0">
                <a:solidFill>
                  <a:srgbClr val="1B2631"/>
                </a:solidFill>
                <a:latin typeface="Calibri"/>
              </a:rPr>
              <a:t> last year’s same date (within ~1 day) ≠ today’s weather; Kyiv’s </a:t>
            </a:r>
            <a:r>
              <a:rPr sz="1400" b="1" i="0">
                <a:solidFill>
                  <a:srgbClr val="1B2631"/>
                </a:solidFill>
                <a:latin typeface="Calibri"/>
              </a:rPr>
              <a:t>observation hour drift</a:t>
            </a:r>
            <a:r>
              <a:rPr sz="1400" b="0" i="0">
                <a:solidFill>
                  <a:srgbClr val="1B2631"/>
                </a:solidFill>
                <a:latin typeface="Calibri"/>
              </a:rPr>
              <a:t> adds time-of-day bias to year-over-year comparisons (MAE </a:t>
            </a:r>
            <a:r>
              <a:rPr sz="1400" b="1" i="0">
                <a:solidFill>
                  <a:srgbClr val="1B2631"/>
                </a:solidFill>
                <a:latin typeface="Calibri"/>
              </a:rPr>
              <a:t>5.99°C</a:t>
            </a:r>
            <a:r>
              <a:rPr sz="1400" b="0" i="0">
                <a:solidFill>
                  <a:srgbClr val="1B2631"/>
                </a:solidFill>
                <a:latin typeface="Calibri"/>
              </a:rPr>
              <a:t>).</a:t>
            </a:r>
          </a:p>
          <a:p>
            <a:pPr marL="274320" indent="-237744" algn="l">
              <a:spcAft>
                <a:spcPts val="600"/>
              </a:spcAft>
              <a:buClr>
                <a:srgbClr val="D9480F"/>
              </a:buClr>
              <a:buFont typeface="Arial"/>
              <a:buChar char="•"/>
            </a:pPr>
            <a:r>
              <a:rPr sz="1400" b="0" i="0">
                <a:solidFill>
                  <a:srgbClr val="1B2631"/>
                </a:solidFill>
                <a:latin typeface="Calibri"/>
              </a:rPr>
              <a:t>Ensemble MAE ties Ridge at </a:t>
            </a:r>
            <a:r>
              <a:rPr sz="1400" b="1" i="0">
                <a:solidFill>
                  <a:srgbClr val="1B2631"/>
                </a:solidFill>
                <a:latin typeface="Calibri"/>
              </a:rPr>
              <a:t>2.474°C</a:t>
            </a:r>
            <a:r>
              <a:rPr sz="1400" b="0" i="0">
                <a:solidFill>
                  <a:srgbClr val="1B2631"/>
                </a:solidFill>
                <a:latin typeface="Calibri"/>
              </a:rPr>
              <a:t> (rounding); Ridge remains primary model.</a:t>
            </a:r>
          </a:p>
        </p:txBody>
      </p:sp>
      <p:pic>
        <p:nvPicPr>
          <p:cNvPr id="7" name="Picture 6" descr="kyiv_forecast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8746"/>
            <a:ext cx="5516575" cy="2006027"/>
          </a:xfrm>
          <a:prstGeom prst="rect">
            <a:avLst/>
          </a:prstGeom>
          <a:ln w="9525">
            <a:solidFill>
              <a:srgbClr val="D5DD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126480" y="4114800"/>
            <a:ext cx="2666847" cy="146304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4251960"/>
            <a:ext cx="2301087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D64"/>
                </a:solidFill>
                <a:latin typeface="Cambria"/>
              </a:rPr>
              <a:t>2.474°C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983480"/>
            <a:ext cx="2301087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D6D7E"/>
                </a:solidFill>
                <a:latin typeface="Calibri"/>
              </a:rPr>
              <a:t>MAE — Ridge (ensemble ties)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6207" y="4114800"/>
            <a:ext cx="2666847" cy="146304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04807" y="4251960"/>
            <a:ext cx="2301087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4D64"/>
                </a:solidFill>
                <a:latin typeface="Cambria"/>
              </a:rPr>
              <a:t>3.599°C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4807" y="4983480"/>
            <a:ext cx="2301087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D6D7E"/>
                </a:solidFill>
                <a:latin typeface="Calibri"/>
              </a:rPr>
              <a:t>RMSE — Ridge (lowest)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ANOMALIES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8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10047" cy="160020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D9480F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64208"/>
            <a:ext cx="3901287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2631"/>
                </a:solidFill>
                <a:latin typeface="Calibri"/>
              </a:rPr>
              <a:t>Robust z-score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(30-day rolling median / MAD, threshold 3.5):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9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flagged days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631"/>
                </a:solidFill>
                <a:latin typeface="Calibri"/>
              </a:rPr>
              <a:t>Example: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2026-08-17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reads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1.1°C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in the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test window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(likely scrape error). The two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2024-05-16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flags are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edge effects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of the centered window at the series start.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08760"/>
            <a:ext cx="5410047" cy="160020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1607" y="164592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D9480F"/>
                </a:solidFill>
                <a:latin typeface="Cambria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3167" y="1664208"/>
            <a:ext cx="3901287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2631"/>
                </a:solidFill>
                <a:latin typeface="Calibri"/>
              </a:rPr>
              <a:t>Isolation Forest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(temp + precip, 2% contamination): 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18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 points (</a:t>
            </a:r>
            <a:r>
              <a:rPr sz="1300" b="1" i="0">
                <a:solidFill>
                  <a:srgbClr val="1B2631"/>
                </a:solidFill>
                <a:latin typeface="Calibri"/>
              </a:rPr>
              <a:t>top 2% by construction</a:t>
            </a:r>
            <a:r>
              <a:rPr sz="1300" b="0" i="0">
                <a:solidFill>
                  <a:srgbClr val="1B2631"/>
                </a:solidFill>
                <a:latin typeface="Calibr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D6D7E"/>
                </a:solidFill>
                <a:latin typeface="Calibri"/>
              </a:rPr>
              <a:t>Different methods → different counts (univariate local vs joint extremes)</a:t>
            </a:r>
          </a:p>
        </p:txBody>
      </p:sp>
      <p:pic>
        <p:nvPicPr>
          <p:cNvPr id="12" name="Picture 11" descr="kyiv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082" y="3657600"/>
            <a:ext cx="7669529" cy="2788920"/>
          </a:xfrm>
          <a:prstGeom prst="rect">
            <a:avLst/>
          </a:prstGeom>
          <a:ln w="9525">
            <a:solidFill>
              <a:srgbClr val="D5DDE2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837943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12064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0E4D64"/>
                </a:solidFill>
                <a:latin typeface="Calibri"/>
              </a:rPr>
              <a:t>Ridge coefficients on lag features (Kyiv, full series):</a:t>
            </a:r>
          </a:p>
          <a:p>
            <a:pPr marL="274320" indent="-237744" algn="l">
              <a:spcAft>
                <a:spcPts val="1000"/>
              </a:spcAft>
              <a:buClr>
                <a:srgbClr val="D9480F"/>
              </a:buClr>
              <a:buFont typeface="Arial"/>
              <a:buChar char="•"/>
            </a:pPr>
            <a:r>
              <a:rPr sz="1600" b="1" i="0">
                <a:solidFill>
                  <a:srgbClr val="1B2631"/>
                </a:solidFill>
                <a:latin typeface="Calibri"/>
              </a:rPr>
              <a:t>lag_1: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0.796 — yesterday dominates</a:t>
            </a:r>
          </a:p>
          <a:p>
            <a:pPr marL="274320" indent="-237744" algn="l">
              <a:spcAft>
                <a:spcPts val="1000"/>
              </a:spcAft>
              <a:buClr>
                <a:srgbClr val="D9480F"/>
              </a:buClr>
              <a:buFont typeface="Arial"/>
              <a:buChar char="•"/>
            </a:pPr>
            <a:r>
              <a:rPr sz="1600" b="1" i="0">
                <a:solidFill>
                  <a:srgbClr val="1B2631"/>
                </a:solidFill>
                <a:latin typeface="Calibri"/>
              </a:rPr>
              <a:t>lag_7: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0.093 — week-scale signal</a:t>
            </a:r>
          </a:p>
          <a:p>
            <a:pPr marL="274320" indent="-237744" algn="l">
              <a:spcAft>
                <a:spcPts val="1000"/>
              </a:spcAft>
              <a:buClr>
                <a:srgbClr val="D9480F"/>
              </a:buClr>
              <a:buFont typeface="Arial"/>
              <a:buChar char="•"/>
            </a:pPr>
            <a:r>
              <a:rPr sz="1600" b="1" i="0">
                <a:solidFill>
                  <a:srgbClr val="1B2631"/>
                </a:solidFill>
                <a:latin typeface="Calibri"/>
              </a:rPr>
              <a:t>lag_14 / lag_3: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smaller</a:t>
            </a:r>
          </a:p>
          <a:p>
            <a:pPr marL="274320" indent="-237744" algn="l">
              <a:spcAft>
                <a:spcPts val="1800"/>
              </a:spcAft>
              <a:buClr>
                <a:srgbClr val="D9480F"/>
              </a:buClr>
              <a:buFont typeface="Arial"/>
              <a:buChar char="•"/>
            </a:pPr>
            <a:r>
              <a:rPr sz="1600" b="1" i="0">
                <a:solidFill>
                  <a:srgbClr val="1B2631"/>
                </a:solidFill>
                <a:latin typeface="Calibri"/>
              </a:rPr>
              <a:t>lag_28 / lag_2: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 coefficients ≈ 0 —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lag_2 is almost perfectly correlated with lag_1 (r ≈ 0.96)</a:t>
            </a:r>
            <a:r>
              <a:rPr sz="1600" b="0" i="0">
                <a:solidFill>
                  <a:srgbClr val="1B2631"/>
                </a:solidFill>
                <a:latin typeface="Calibri"/>
              </a:rPr>
              <a:t>; coefs from full-series fit (shift if refit on train only)</a:t>
            </a:r>
          </a:p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D6D7E"/>
                </a:solidFill>
                <a:latin typeface="Calibri"/>
              </a:rPr>
              <a:t>Aligns with notebook 02: persistence baseline almost matches Ridge.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00200"/>
            <a:ext cx="5608015" cy="3078327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yiv_lag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59" y="1874519"/>
            <a:ext cx="5059375" cy="2529687"/>
          </a:xfrm>
          <a:prstGeom prst="rect">
            <a:avLst/>
          </a:prstGeom>
          <a:ln w="9525">
            <a:solidFill>
              <a:srgbClr val="D5DDE2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229868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Environmental analysis (Kyiv)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5D6D7E"/>
                </a:solidFill>
                <a:latin typeface="Calibri"/>
              </a:rPr>
              <a:t>Correlation (not causation) — strongest pairs: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4754880" cy="1097280"/>
          </a:xfrm>
          <a:prstGeom prst="roundRect">
            <a:avLst>
              <a:gd name="adj" fmla="val 6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B2631"/>
                </a:solidFill>
                <a:latin typeface="Calibri"/>
              </a:rPr>
              <a:t>Temperature ↔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ozone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0F"/>
                </a:solidFill>
                <a:latin typeface="Cambria"/>
              </a:rPr>
              <a:t>r ≈ +0.54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4754880" cy="1097280"/>
          </a:xfrm>
          <a:prstGeom prst="roundRect">
            <a:avLst>
              <a:gd name="adj" fmla="val 6000"/>
            </a:avLst>
          </a:prstGeom>
          <a:solidFill>
            <a:srgbClr val="E3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7490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B2631"/>
                </a:solidFill>
                <a:latin typeface="Calibri"/>
              </a:rPr>
              <a:t>Humidity ↔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ozone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6908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E4D64"/>
                </a:solidFill>
                <a:latin typeface="Cambria"/>
              </a:rPr>
              <a:t>r ≈ −0.49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4754880" cy="1097280"/>
          </a:xfrm>
          <a:prstGeom prst="roundRect">
            <a:avLst>
              <a:gd name="adj" fmla="val 6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074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B2631"/>
                </a:solidFill>
                <a:latin typeface="Calibri"/>
              </a:rPr>
              <a:t>Pressure ↔ </a:t>
            </a:r>
            <a:r>
              <a:rPr sz="1600" b="1" i="0">
                <a:solidFill>
                  <a:srgbClr val="1B2631"/>
                </a:solidFill>
                <a:latin typeface="Calibri"/>
              </a:rPr>
              <a:t>SO₂ / NO₂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3949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0F"/>
                </a:solidFill>
                <a:latin typeface="Cambria"/>
              </a:rPr>
              <a:t>r ≈ +0.36–0.37</a:t>
            </a:r>
          </a:p>
        </p:txBody>
      </p:sp>
      <p:pic>
        <p:nvPicPr>
          <p:cNvPr id="15" name="Picture 14" descr="kyiv_air_quality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42409"/>
            <a:ext cx="5973775" cy="4779020"/>
          </a:xfrm>
          <a:prstGeom prst="rect">
            <a:avLst/>
          </a:prstGeom>
          <a:ln w="9525">
            <a:solidFill>
              <a:srgbClr val="D5DDE2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Geographical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11 / 14</a:t>
            </a:r>
          </a:p>
        </p:txBody>
      </p:sp>
      <p:pic>
        <p:nvPicPr>
          <p:cNvPr id="5" name="Picture 4" descr="country_mean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6035040" cy="4828031"/>
          </a:xfrm>
          <a:prstGeom prst="rect">
            <a:avLst/>
          </a:prstGeom>
          <a:ln w="9525">
            <a:solidFill>
              <a:srgbClr val="D5DDE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949440" y="1554480"/>
            <a:ext cx="4693615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B2631"/>
                </a:solidFill>
                <a:latin typeface="Calibri"/>
              </a:rPr>
              <a:t>Mean </a:t>
            </a:r>
            <a:r>
              <a:rPr sz="1500" b="0" i="0">
                <a:solidFill>
                  <a:srgbClr val="0E4D64"/>
                </a:solidFill>
                <a:latin typeface="Consolas"/>
              </a:rPr>
              <a:t>temperature_celsius</a:t>
            </a:r>
            <a:r>
              <a:rPr sz="1500" b="0" i="0">
                <a:solidFill>
                  <a:srgbClr val="1B2631"/>
                </a:solidFill>
                <a:latin typeface="Calibri"/>
              </a:rPr>
              <a:t> by </a:t>
            </a:r>
            <a:r>
              <a:rPr sz="1500" b="1" i="0">
                <a:solidFill>
                  <a:srgbClr val="1B2631"/>
                </a:solidFill>
                <a:latin typeface="Calibri"/>
              </a:rPr>
              <a:t>country</a:t>
            </a:r>
            <a:r>
              <a:rPr sz="1500" b="0" i="0">
                <a:solidFill>
                  <a:srgbClr val="1B2631"/>
                </a:solidFill>
                <a:latin typeface="Calibri"/>
              </a:rPr>
              <a:t>, only countries with </a:t>
            </a:r>
            <a:r>
              <a:rPr sz="1500" b="1" i="0">
                <a:solidFill>
                  <a:srgbClr val="1B2631"/>
                </a:solidFill>
                <a:latin typeface="Calibri"/>
              </a:rPr>
              <a:t>≥100 rows</a:t>
            </a:r>
            <a:r>
              <a:rPr sz="1500" b="0" i="0">
                <a:solidFill>
                  <a:srgbClr val="1B2631"/>
                </a:solidFill>
                <a:latin typeface="Calibri"/>
              </a:rPr>
              <a:t> (186 included; 25 sparse excluded):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514600"/>
            <a:ext cx="4693615" cy="1188720"/>
          </a:xfrm>
          <a:prstGeom prst="roundRect">
            <a:avLst>
              <a:gd name="adj" fmla="val 6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59" y="2651760"/>
            <a:ext cx="4144975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480F"/>
                </a:solidFill>
                <a:latin typeface="Calibri"/>
              </a:rPr>
              <a:t>Highest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B2631"/>
                </a:solidFill>
                <a:latin typeface="Calibri"/>
              </a:rPr>
              <a:t>Qatar, United Arab Emirates, Cambodia (~32–33°C mean)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886200"/>
            <a:ext cx="4693615" cy="1188720"/>
          </a:xfrm>
          <a:prstGeom prst="roundRect">
            <a:avLst>
              <a:gd name="adj" fmla="val 6000"/>
            </a:avLst>
          </a:prstGeom>
          <a:solidFill>
            <a:srgbClr val="E3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59" y="4023360"/>
            <a:ext cx="4144975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4D64"/>
                </a:solidFill>
                <a:latin typeface="Calibri"/>
              </a:rPr>
              <a:t>Lowest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B2631"/>
                </a:solidFill>
                <a:latin typeface="Calibri"/>
              </a:rPr>
              <a:t>Iceland, Mongolia, Canada (~5.7–6.6°C mean)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5349240"/>
            <a:ext cx="4693615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D6D7E"/>
                </a:solidFill>
                <a:latin typeface="Calibri"/>
              </a:rPr>
              <a:t>Limitations:</a:t>
            </a:r>
            <a:r>
              <a:rPr sz="1300" b="0" i="0">
                <a:solidFill>
                  <a:srgbClr val="5D6D7E"/>
                </a:solidFill>
                <a:latin typeface="Calibri"/>
              </a:rPr>
              <a:t> Mixed-language country labels; means over scrape snapshots, not WMO climate normals.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12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64327" cy="3931920"/>
          </a:xfrm>
          <a:prstGeom prst="roundRect">
            <a:avLst>
              <a:gd name="adj" fmla="val 6000"/>
            </a:avLst>
          </a:prstGeom>
          <a:solidFill>
            <a:srgbClr val="E3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632807" cy="3474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600"/>
              </a:spcAft>
            </a:pPr>
            <a:r>
              <a:rPr sz="2400" b="1" i="0">
                <a:solidFill>
                  <a:srgbClr val="0E4D64"/>
                </a:solidFill>
                <a:latin typeface="Cambria"/>
              </a:rPr>
              <a:t>Limitations</a:t>
            </a:r>
          </a:p>
          <a:p>
            <a:pPr marL="274320" indent="-237744" algn="l">
              <a:spcAft>
                <a:spcPts val="1600"/>
              </a:spcAft>
              <a:buClr>
                <a:srgbClr val="D9480F"/>
              </a:buClr>
              <a:buFont typeface="Arial"/>
              <a:buChar char="•"/>
            </a:pPr>
            <a:r>
              <a:rPr sz="2000" b="0" i="0">
                <a:solidFill>
                  <a:srgbClr val="1B2631"/>
                </a:solidFill>
                <a:latin typeface="Calibri"/>
              </a:rPr>
              <a:t>Single-city forecast for submission depth; global model would need hierarchy or many series</a:t>
            </a:r>
          </a:p>
          <a:p>
            <a:pPr marL="274320" indent="-237744" algn="l">
              <a:spcAft>
                <a:spcPts val="1600"/>
              </a:spcAft>
              <a:buClr>
                <a:srgbClr val="D9480F"/>
              </a:buClr>
              <a:buFont typeface="Arial"/>
              <a:buChar char="•"/>
            </a:pPr>
            <a:r>
              <a:rPr sz="2000" b="0" i="0">
                <a:solidFill>
                  <a:srgbClr val="1B2631"/>
                </a:solidFill>
                <a:latin typeface="Calibri"/>
              </a:rPr>
              <a:t>Observation-hour drift biases year-over-year baselines</a:t>
            </a:r>
          </a:p>
          <a:p>
            <a:pPr marL="274320" indent="-237744" algn="l">
              <a:spcAft>
                <a:spcPts val="1600"/>
              </a:spcAft>
              <a:buClr>
                <a:srgbClr val="D9480F"/>
              </a:buClr>
              <a:buFont typeface="Arial"/>
              <a:buChar char="•"/>
            </a:pPr>
            <a:r>
              <a:rPr sz="2000" b="0" i="0">
                <a:solidFill>
                  <a:srgbClr val="1B2631"/>
                </a:solidFill>
                <a:latin typeface="Calibri"/>
              </a:rPr>
              <a:t>Correlations ≠ causal air-quality mechanisms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600200"/>
            <a:ext cx="5364327" cy="3931920"/>
          </a:xfrm>
          <a:prstGeom prst="roundRect">
            <a:avLst>
              <a:gd name="adj" fmla="val 6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44487" y="1874519"/>
            <a:ext cx="4632807" cy="3474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600"/>
              </a:spcAft>
            </a:pPr>
            <a:r>
              <a:rPr sz="2400" b="1" i="0">
                <a:solidFill>
                  <a:srgbClr val="D9480F"/>
                </a:solidFill>
                <a:latin typeface="Cambria"/>
              </a:rPr>
              <a:t>Next steps</a:t>
            </a:r>
          </a:p>
          <a:p>
            <a:pPr marL="274320" indent="-237744" algn="l">
              <a:spcAft>
                <a:spcPts val="1600"/>
              </a:spcAft>
              <a:buClr>
                <a:srgbClr val="D9480F"/>
              </a:buClr>
              <a:buFont typeface="Arial"/>
              <a:buChar char="•"/>
            </a:pPr>
            <a:r>
              <a:rPr sz="2000" b="0" i="0">
                <a:solidFill>
                  <a:srgbClr val="1B2631"/>
                </a:solidFill>
                <a:latin typeface="Calibri"/>
              </a:rPr>
              <a:t>Calendar-aware features / proper time-series CV</a:t>
            </a:r>
          </a:p>
          <a:p>
            <a:pPr marL="274320" indent="-237744" algn="l">
              <a:spcAft>
                <a:spcPts val="1600"/>
              </a:spcAft>
              <a:buClr>
                <a:srgbClr val="D9480F"/>
              </a:buClr>
              <a:buFont typeface="Arial"/>
              <a:buChar char="•"/>
            </a:pPr>
            <a:r>
              <a:rPr sz="2000" b="0" i="0">
                <a:solidFill>
                  <a:srgbClr val="1B2631"/>
                </a:solidFill>
                <a:latin typeface="Calibri"/>
              </a:rPr>
              <a:t>Normalize country names; continent-level aggregates</a:t>
            </a:r>
          </a:p>
          <a:p>
            <a:pPr marL="274320" indent="-237744" algn="l">
              <a:spcAft>
                <a:spcPts val="1600"/>
              </a:spcAft>
              <a:buClr>
                <a:srgbClr val="D9480F"/>
              </a:buClr>
              <a:buFont typeface="Arial"/>
              <a:buChar char="•"/>
            </a:pPr>
            <a:r>
              <a:rPr sz="2000" b="0" i="0">
                <a:solidFill>
                  <a:srgbClr val="1B2631"/>
                </a:solidFill>
                <a:latin typeface="Calibri"/>
              </a:rPr>
              <a:t>Precipitation forecasting with zero-inflated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2631"/>
                </a:solidFill>
                <a:latin typeface="Cambria"/>
              </a:rPr>
              <a:t>Repository &amp;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13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E4D64"/>
                </a:solidFill>
                <a:latin typeface="Calibri"/>
              </a:rP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45920"/>
            <a:ext cx="835121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 err="1">
                <a:hlinkClick r:id="rId2"/>
              </a:rPr>
              <a:t>ArepaMan</a:t>
            </a:r>
            <a:r>
              <a:rPr lang="en-US" dirty="0">
                <a:hlinkClick r:id="rId2"/>
              </a:rPr>
              <a:t>/weather-trend-forecasting: Public Repo for Data Scientist application project to PM Accelerator</a:t>
            </a:r>
            <a:endParaRPr sz="1800" b="0" i="0" dirty="0">
              <a:solidFill>
                <a:srgbClr val="0E4D64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E4D64"/>
                </a:solidFill>
                <a:latin typeface="Calibri"/>
              </a:rPr>
              <a:t>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835121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0E4D64"/>
                </a:solidFill>
                <a:latin typeface="Consolas"/>
              </a:rPr>
              <a:t>pip install -r requirements.txt</a:t>
            </a:r>
            <a:r>
              <a:rPr sz="1800" b="0" i="0" dirty="0">
                <a:solidFill>
                  <a:srgbClr val="1B2631"/>
                </a:solidFill>
                <a:latin typeface="Calibri"/>
              </a:rPr>
              <a:t> → Jupyter notebooks </a:t>
            </a:r>
            <a:r>
              <a:rPr sz="1800" b="0" i="0" dirty="0">
                <a:solidFill>
                  <a:srgbClr val="0E4D64"/>
                </a:solidFill>
                <a:latin typeface="Consolas"/>
              </a:rPr>
              <a:t>01</a:t>
            </a:r>
            <a:r>
              <a:rPr sz="1800" b="0" i="0" dirty="0">
                <a:solidFill>
                  <a:srgbClr val="1B2631"/>
                </a:solidFill>
                <a:latin typeface="Calibri"/>
              </a:rPr>
              <a:t> → </a:t>
            </a:r>
            <a:r>
              <a:rPr sz="1800" b="0" i="0" dirty="0">
                <a:solidFill>
                  <a:srgbClr val="0E4D64"/>
                </a:solidFill>
                <a:latin typeface="Consolas"/>
              </a:rPr>
              <a:t>02</a:t>
            </a:r>
            <a:r>
              <a:rPr sz="1800" b="0" i="0" dirty="0">
                <a:solidFill>
                  <a:srgbClr val="1B2631"/>
                </a:solidFill>
                <a:latin typeface="Calibri"/>
              </a:rPr>
              <a:t> → </a:t>
            </a:r>
            <a:r>
              <a:rPr sz="1800" b="0" i="0" dirty="0">
                <a:solidFill>
                  <a:srgbClr val="0E4D64"/>
                </a:solidFill>
                <a:latin typeface="Consola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E4D64"/>
                </a:solidFill>
                <a:latin typeface="Calibri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840480"/>
            <a:ext cx="835121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631"/>
                </a:solidFill>
                <a:latin typeface="Calibri"/>
              </a:rPr>
              <a:t>Download Kaggle CSV to </a:t>
            </a:r>
            <a:r>
              <a:rPr sz="1800" b="0" i="0">
                <a:solidFill>
                  <a:srgbClr val="0E4D64"/>
                </a:solidFill>
                <a:latin typeface="Consolas"/>
              </a:rPr>
              <a:t>data/raw/GlobalWeatherRepository.csv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59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937759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E4D64"/>
                </a:solidFill>
                <a:latin typeface="Calibri"/>
              </a:rPr>
              <a:t>Demo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937759"/>
            <a:ext cx="835121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0E4D64"/>
                </a:solidFill>
                <a:latin typeface="Consolas"/>
              </a:rPr>
              <a:t>[video-</a:t>
            </a:r>
            <a:r>
              <a:rPr sz="1800" b="0" i="0" dirty="0" err="1">
                <a:solidFill>
                  <a:srgbClr val="0E4D64"/>
                </a:solidFill>
                <a:latin typeface="Consolas"/>
              </a:rPr>
              <a:t>url</a:t>
            </a:r>
            <a:r>
              <a:rPr sz="1800" b="0" i="0" dirty="0">
                <a:solidFill>
                  <a:srgbClr val="0E4D64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155448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1B2631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D9480F"/>
                </a:solidFill>
                <a:latin typeface="Cambria"/>
              </a:rP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977639"/>
            <a:ext cx="73152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3977639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 err="1">
                <a:solidFill>
                  <a:srgbClr val="1B2631"/>
                </a:solidFill>
              </a:rPr>
              <a:t>manuel@manuelvargas.dev</a:t>
            </a:r>
            <a:r>
              <a:rPr sz="1800" b="0" i="0" dirty="0">
                <a:solidFill>
                  <a:srgbClr val="1B2631"/>
                </a:solidFill>
                <a:latin typeface="Calibri"/>
              </a:rPr>
              <a:t> · </a:t>
            </a:r>
            <a:r>
              <a:rPr lang="en-US" dirty="0">
                <a:solidFill>
                  <a:srgbClr val="1B2631"/>
                </a:solidFill>
              </a:rPr>
              <a:t>https://github.com/ArepaMan</a:t>
            </a:r>
            <a:r>
              <a:rPr sz="1800" b="0" i="0" dirty="0">
                <a:solidFill>
                  <a:srgbClr val="1B2631"/>
                </a:solidFill>
                <a:latin typeface="Calibri"/>
              </a:rPr>
              <a:t> · </a:t>
            </a:r>
            <a:r>
              <a:rPr lang="en-US" dirty="0">
                <a:hlinkClick r:id="rId2"/>
              </a:rPr>
              <a:t>Manuel Vargas Alvarez | LinkedIn</a:t>
            </a:r>
            <a:r>
              <a:rPr sz="1800" b="0" i="0" dirty="0">
                <a:solidFill>
                  <a:srgbClr val="1B2631"/>
                </a:solidFill>
                <a:latin typeface="Calibri"/>
              </a:rPr>
              <a:t> </a:t>
            </a:r>
            <a:endParaRPr sz="1800" b="0" i="1" dirty="0">
              <a:solidFill>
                <a:srgbClr val="5D6D7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D6D7E"/>
                </a:solidFill>
                <a:latin typeface="Calibri"/>
              </a:rPr>
              <a:t>Manuel Vargas Alvarez · PM Accelerator — Data Scientist technical assessment (Advanced track)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1127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Vargas Alvarez, Manuel Jose</cp:lastModifiedBy>
  <cp:revision>4</cp:revision>
  <dcterms:created xsi:type="dcterms:W3CDTF">2013-01-27T09:14:16Z</dcterms:created>
  <dcterms:modified xsi:type="dcterms:W3CDTF">2026-10-01T14:28:12Z</dcterms:modified>
  <cp:category/>
</cp:coreProperties>
</file>